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299" r:id="rId6"/>
    <p:sldId id="300" r:id="rId7"/>
    <p:sldId id="301" r:id="rId8"/>
    <p:sldId id="302" r:id="rId9"/>
    <p:sldId id="303" r:id="rId10"/>
    <p:sldId id="304" r:id="rId11"/>
    <p:sldId id="305" r:id="rId12"/>
    <p:sldId id="306" r:id="rId13"/>
    <p:sldId id="307" r:id="rId14"/>
    <p:sldId id="3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9" d="100"/>
          <a:sy n="79" d="100"/>
        </p:scale>
        <p:origin x="4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cuments\EXCEL\PROJECT.xlsm"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ocuments\EXCEL\PROJECT.xlsm"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cuments\EXCEL\PROJECT.xlsm"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[PROJECT.xlsm]Pivot Table!PivotTable3</c:name>
    <c:fmtId val="10"/>
  </c:pivotSource>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Table'!$J$1</c:f>
              <c:strCache>
                <c:ptCount val="1"/>
                <c:pt idx="0">
                  <c:v>Total</c:v>
                </c:pt>
              </c:strCache>
            </c:strRef>
          </c:tx>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cat>
            <c:strRef>
              <c:f>'Pivot Table'!$I$2:$I$6</c:f>
              <c:strCache>
                <c:ptCount val="4"/>
                <c:pt idx="0">
                  <c:v>First Class</c:v>
                </c:pt>
                <c:pt idx="1">
                  <c:v>Same Day</c:v>
                </c:pt>
                <c:pt idx="2">
                  <c:v>Second Class</c:v>
                </c:pt>
                <c:pt idx="3">
                  <c:v>Standard Class</c:v>
                </c:pt>
              </c:strCache>
            </c:strRef>
          </c:cat>
          <c:val>
            <c:numRef>
              <c:f>'Pivot Table'!$J$2:$J$6</c:f>
              <c:numCache>
                <c:formatCode>General</c:formatCode>
                <c:ptCount val="4"/>
                <c:pt idx="0">
                  <c:v>533591.85715782002</c:v>
                </c:pt>
                <c:pt idx="1">
                  <c:v>260856.49185000017</c:v>
                </c:pt>
                <c:pt idx="2">
                  <c:v>649188.3048898601</c:v>
                </c:pt>
                <c:pt idx="3">
                  <c:v>1606838.3714595109</c:v>
                </c:pt>
              </c:numCache>
            </c:numRef>
          </c:val>
          <c:extLst>
            <c:ext xmlns:c16="http://schemas.microsoft.com/office/drawing/2014/chart" uri="{C3380CC4-5D6E-409C-BE32-E72D297353CC}">
              <c16:uniqueId val="{00000000-BD81-49CE-B8F7-C02075AF7BF0}"/>
            </c:ext>
          </c:extLst>
        </c:ser>
        <c:dLbls>
          <c:showLegendKey val="0"/>
          <c:showVal val="0"/>
          <c:showCatName val="0"/>
          <c:showSerName val="0"/>
          <c:showPercent val="0"/>
          <c:showBubbleSize val="0"/>
        </c:dLbls>
        <c:gapWidth val="115"/>
        <c:overlap val="-20"/>
        <c:axId val="878915184"/>
        <c:axId val="878916264"/>
      </c:barChart>
      <c:catAx>
        <c:axId val="878915184"/>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crossAx val="878916264"/>
        <c:crosses val="autoZero"/>
        <c:auto val="1"/>
        <c:lblAlgn val="ctr"/>
        <c:lblOffset val="100"/>
        <c:noMultiLvlLbl val="0"/>
      </c:catAx>
      <c:valAx>
        <c:axId val="878916264"/>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crossAx val="8789151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a:scene3d>
      <a:camera prst="orthographicFront"/>
      <a:lightRig rig="threePt" dir="t"/>
    </a:scene3d>
    <a:sp3d>
      <a:bevelT w="190500" h="38100"/>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[PROJECT.xlsm]Pivot Table!PivotTable2</c:name>
    <c:fmtId val="9"/>
  </c:pivotSource>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2"/>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3"/>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4"/>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6"/>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7"/>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8"/>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10"/>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
        <c:idx val="11"/>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pivotFmt>
    </c:pivotFmts>
    <c:plotArea>
      <c:layout/>
      <c:pieChart>
        <c:varyColors val="1"/>
        <c:ser>
          <c:idx val="0"/>
          <c:order val="0"/>
          <c:tx>
            <c:strRef>
              <c:f>'Pivot Table'!$F$1</c:f>
              <c:strCache>
                <c:ptCount val="1"/>
                <c:pt idx="0">
                  <c:v>Total</c:v>
                </c:pt>
              </c:strCache>
            </c:strRef>
          </c:tx>
          <c:dPt>
            <c:idx val="0"/>
            <c:bubble3D val="0"/>
            <c:spPr>
              <a:gradFill rotWithShape="1">
                <a:gsLst>
                  <a:gs pos="0">
                    <a:schemeClr val="accent5">
                      <a:shade val="65000"/>
                      <a:shade val="85000"/>
                      <a:satMod val="130000"/>
                    </a:schemeClr>
                  </a:gs>
                  <a:gs pos="34000">
                    <a:schemeClr val="accent5">
                      <a:shade val="65000"/>
                      <a:shade val="87000"/>
                      <a:satMod val="125000"/>
                    </a:schemeClr>
                  </a:gs>
                  <a:gs pos="70000">
                    <a:schemeClr val="accent5">
                      <a:shade val="65000"/>
                      <a:tint val="100000"/>
                      <a:shade val="90000"/>
                      <a:satMod val="130000"/>
                    </a:schemeClr>
                  </a:gs>
                  <a:gs pos="100000">
                    <a:schemeClr val="accent5">
                      <a:shade val="6500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1-6A1D-4B83-B89B-DA281CE5453C}"/>
              </c:ext>
            </c:extLst>
          </c:dPt>
          <c:dPt>
            <c:idx val="1"/>
            <c:bubble3D val="0"/>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3-6A1D-4B83-B89B-DA281CE5453C}"/>
              </c:ext>
            </c:extLst>
          </c:dPt>
          <c:dPt>
            <c:idx val="2"/>
            <c:bubble3D val="0"/>
            <c:spPr>
              <a:gradFill rotWithShape="1">
                <a:gsLst>
                  <a:gs pos="0">
                    <a:schemeClr val="accent5">
                      <a:tint val="65000"/>
                      <a:shade val="85000"/>
                      <a:satMod val="130000"/>
                    </a:schemeClr>
                  </a:gs>
                  <a:gs pos="34000">
                    <a:schemeClr val="accent5">
                      <a:tint val="65000"/>
                      <a:shade val="87000"/>
                      <a:satMod val="125000"/>
                    </a:schemeClr>
                  </a:gs>
                  <a:gs pos="70000">
                    <a:schemeClr val="accent5">
                      <a:tint val="65000"/>
                      <a:tint val="100000"/>
                      <a:shade val="90000"/>
                      <a:satMod val="130000"/>
                    </a:schemeClr>
                  </a:gs>
                  <a:gs pos="100000">
                    <a:schemeClr val="accent5">
                      <a:tint val="6500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extLst>
              <c:ext xmlns:c16="http://schemas.microsoft.com/office/drawing/2014/chart" uri="{C3380CC4-5D6E-409C-BE32-E72D297353CC}">
                <c16:uniqueId val="{00000005-6A1D-4B83-B89B-DA281CE5453C}"/>
              </c:ext>
            </c:extLst>
          </c:dPt>
          <c:cat>
            <c:strRef>
              <c:f>'Pivot Table'!$E$2:$E$5</c:f>
              <c:strCache>
                <c:ptCount val="3"/>
                <c:pt idx="0">
                  <c:v>Consumer</c:v>
                </c:pt>
                <c:pt idx="1">
                  <c:v>Corporate</c:v>
                </c:pt>
                <c:pt idx="2">
                  <c:v>Home Office</c:v>
                </c:pt>
              </c:strCache>
            </c:strRef>
          </c:cat>
          <c:val>
            <c:numRef>
              <c:f>'Pivot Table'!$F$2:$F$5</c:f>
              <c:numCache>
                <c:formatCode>General</c:formatCode>
                <c:ptCount val="3"/>
                <c:pt idx="0">
                  <c:v>1347475.1347442206</c:v>
                </c:pt>
                <c:pt idx="1">
                  <c:v>986986.4200607196</c:v>
                </c:pt>
                <c:pt idx="2">
                  <c:v>716013.47055225028</c:v>
                </c:pt>
              </c:numCache>
            </c:numRef>
          </c:val>
          <c:extLst>
            <c:ext xmlns:c16="http://schemas.microsoft.com/office/drawing/2014/chart" uri="{C3380CC4-5D6E-409C-BE32-E72D297353CC}">
              <c16:uniqueId val="{00000006-6A1D-4B83-B89B-DA281CE5453C}"/>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a:scene3d>
      <a:camera prst="orthographicFront"/>
      <a:lightRig rig="threePt" dir="t"/>
    </a:scene3d>
    <a:sp3d>
      <a:bevelT w="190500" h="38100"/>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[PROJECT.xlsm]Pivot Table!PivotTable1</c:name>
    <c:fmtId val="8"/>
  </c:pivotSource>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Table'!$B$1</c:f>
              <c:strCache>
                <c:ptCount val="1"/>
                <c:pt idx="0">
                  <c:v>Total</c:v>
                </c:pt>
              </c:strCache>
            </c:strRef>
          </c:tx>
          <c:spPr>
            <a:gradFill rotWithShape="1">
              <a:gsLst>
                <a:gs pos="0">
                  <a:schemeClr val="accent5">
                    <a:shade val="85000"/>
                    <a:satMod val="130000"/>
                  </a:schemeClr>
                </a:gs>
                <a:gs pos="34000">
                  <a:schemeClr val="accent5">
                    <a:shade val="87000"/>
                    <a:satMod val="125000"/>
                  </a:schemeClr>
                </a:gs>
                <a:gs pos="70000">
                  <a:schemeClr val="accent5">
                    <a:tint val="100000"/>
                    <a:shade val="90000"/>
                    <a:satMod val="130000"/>
                  </a:schemeClr>
                </a:gs>
                <a:gs pos="100000">
                  <a:schemeClr val="accent5">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cat>
            <c:strRef>
              <c:f>'Pivot Table'!$A$2:$A$5</c:f>
              <c:strCache>
                <c:ptCount val="3"/>
                <c:pt idx="0">
                  <c:v>Furniture</c:v>
                </c:pt>
                <c:pt idx="1">
                  <c:v>Office Supplies</c:v>
                </c:pt>
                <c:pt idx="2">
                  <c:v>Technology</c:v>
                </c:pt>
              </c:strCache>
            </c:strRef>
          </c:cat>
          <c:val>
            <c:numRef>
              <c:f>'Pivot Table'!$B$2:$B$5</c:f>
              <c:numCache>
                <c:formatCode>General</c:formatCode>
                <c:ptCount val="3"/>
                <c:pt idx="0">
                  <c:v>1030720.6213521906</c:v>
                </c:pt>
                <c:pt idx="1">
                  <c:v>814113.92654599971</c:v>
                </c:pt>
                <c:pt idx="2">
                  <c:v>1205640.4774589988</c:v>
                </c:pt>
              </c:numCache>
            </c:numRef>
          </c:val>
          <c:extLst>
            <c:ext xmlns:c16="http://schemas.microsoft.com/office/drawing/2014/chart" uri="{C3380CC4-5D6E-409C-BE32-E72D297353CC}">
              <c16:uniqueId val="{00000000-267D-49D6-BFE0-D05E14D3A0D0}"/>
            </c:ext>
          </c:extLst>
        </c:ser>
        <c:dLbls>
          <c:showLegendKey val="0"/>
          <c:showVal val="0"/>
          <c:showCatName val="0"/>
          <c:showSerName val="0"/>
          <c:showPercent val="0"/>
          <c:showBubbleSize val="0"/>
        </c:dLbls>
        <c:gapWidth val="100"/>
        <c:overlap val="-24"/>
        <c:axId val="862216416"/>
        <c:axId val="862219656"/>
      </c:barChart>
      <c:catAx>
        <c:axId val="86221641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crossAx val="862219656"/>
        <c:crosses val="autoZero"/>
        <c:auto val="1"/>
        <c:lblAlgn val="ctr"/>
        <c:lblOffset val="100"/>
        <c:noMultiLvlLbl val="0"/>
      </c:catAx>
      <c:valAx>
        <c:axId val="86221965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crossAx val="862216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a:scene3d>
      <a:camera prst="orthographicFront"/>
      <a:lightRig rig="threePt" dir="t"/>
    </a:scene3d>
    <a:sp3d>
      <a:bevelT w="190500" h="38100"/>
    </a:sp3d>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10/28/2025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10/28/2025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10/28/2025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10/28/2025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10/28/2025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10/28/2025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10/28/2025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10/28/2025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10/28/2025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10/28/2025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0"/>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7750" y="1475234"/>
            <a:ext cx="3209973" cy="2901694"/>
          </a:xfrm>
        </p:spPr>
        <p:txBody>
          <a:bodyPr anchor="b">
            <a:normAutofit/>
          </a:bodyPr>
          <a:lstStyle/>
          <a:p>
            <a:r>
              <a:rPr lang="en-US" sz="4400" b="1" spc="-150" dirty="0">
                <a:latin typeface="Times New Roman" panose="02020603050405020304" pitchFamily="18" charset="0"/>
                <a:cs typeface="Times New Roman" panose="02020603050405020304" pitchFamily="18" charset="0"/>
              </a:rPr>
              <a:t>Sales Dataset Analysis</a:t>
            </a:r>
            <a:endParaRPr lang="en-US" sz="4400" b="1" spc="-150" dirty="0">
              <a:solidFill>
                <a:schemeClr val="tx1"/>
              </a:solidFill>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fontScale="92500" lnSpcReduction="10000"/>
          </a:bodyPr>
          <a:lstStyle/>
          <a:p>
            <a:pPr algn="r">
              <a:lnSpc>
                <a:spcPct val="120000"/>
              </a:lnSpc>
            </a:pPr>
            <a:endParaRPr lang="en-US" sz="1600" b="1" dirty="0"/>
          </a:p>
          <a:p>
            <a:pPr algn="r">
              <a:lnSpc>
                <a:spcPct val="120000"/>
              </a:lnSpc>
            </a:pPr>
            <a:r>
              <a:rPr lang="en-US" sz="1600" b="1" dirty="0">
                <a:latin typeface="Times New Roman" panose="02020603050405020304" pitchFamily="18" charset="0"/>
                <a:cs typeface="Times New Roman" panose="02020603050405020304" pitchFamily="18" charset="0"/>
              </a:rPr>
              <a:t>Raagulpradan</a:t>
            </a:r>
            <a:r>
              <a:rPr lang="en-US" sz="1600" b="1" dirty="0"/>
              <a:t> d</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2E23CC-A331-6467-9712-2B106B747346}"/>
              </a:ext>
            </a:extLst>
          </p:cNvPr>
          <p:cNvSpPr txBox="1"/>
          <p:nvPr/>
        </p:nvSpPr>
        <p:spPr>
          <a:xfrm>
            <a:off x="833437" y="601191"/>
            <a:ext cx="263604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Objective:</a:t>
            </a:r>
          </a:p>
        </p:txBody>
      </p:sp>
      <p:sp>
        <p:nvSpPr>
          <p:cNvPr id="6" name="TextBox 5">
            <a:extLst>
              <a:ext uri="{FF2B5EF4-FFF2-40B4-BE49-F238E27FC236}">
                <a16:creationId xmlns:a16="http://schemas.microsoft.com/office/drawing/2014/main" id="{52851200-71E1-1A47-F75E-370B19408F42}"/>
              </a:ext>
            </a:extLst>
          </p:cNvPr>
          <p:cNvSpPr txBox="1"/>
          <p:nvPr/>
        </p:nvSpPr>
        <p:spPr>
          <a:xfrm>
            <a:off x="942975" y="1202725"/>
            <a:ext cx="10415588" cy="1883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retail sales transaction data, extract key insights, and create interactive visualizations using Microsoft Excel.</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While leveraging advanced tools like What-If Analysis, Goal Seek, Macros, Power Query.</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 actionable insights that support decision-making and future strategy development.</a:t>
            </a:r>
          </a:p>
        </p:txBody>
      </p:sp>
      <p:sp>
        <p:nvSpPr>
          <p:cNvPr id="8" name="TextBox 7">
            <a:extLst>
              <a:ext uri="{FF2B5EF4-FFF2-40B4-BE49-F238E27FC236}">
                <a16:creationId xmlns:a16="http://schemas.microsoft.com/office/drawing/2014/main" id="{CB98FCAE-A981-9319-C026-E0C9E7F1DE6B}"/>
              </a:ext>
            </a:extLst>
          </p:cNvPr>
          <p:cNvSpPr txBox="1"/>
          <p:nvPr/>
        </p:nvSpPr>
        <p:spPr>
          <a:xfrm>
            <a:off x="833437" y="3198167"/>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Goals:</a:t>
            </a:r>
          </a:p>
        </p:txBody>
      </p:sp>
      <p:sp>
        <p:nvSpPr>
          <p:cNvPr id="14" name="Rectangle 4">
            <a:extLst>
              <a:ext uri="{FF2B5EF4-FFF2-40B4-BE49-F238E27FC236}">
                <a16:creationId xmlns:a16="http://schemas.microsoft.com/office/drawing/2014/main" id="{8376908D-DFBE-4922-01F1-44E61D90F0CA}"/>
              </a:ext>
            </a:extLst>
          </p:cNvPr>
          <p:cNvSpPr>
            <a:spLocks noChangeArrowheads="1"/>
          </p:cNvSpPr>
          <p:nvPr/>
        </p:nvSpPr>
        <p:spPr bwMode="auto">
          <a:xfrm>
            <a:off x="942975" y="3771617"/>
            <a:ext cx="9047670"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Analyze sales trends over time to understand seasonal patterns and growth.</a:t>
            </a:r>
          </a:p>
          <a:p>
            <a:pPr lvl="0"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Identify high-performing products and sales channels contributing to overall revenue.</a:t>
            </a:r>
          </a:p>
          <a:p>
            <a:pPr lvl="0" eaLnBrk="0" fontAlgn="base" hangingPunct="0">
              <a:lnSpc>
                <a:spcPct val="150000"/>
              </a:lnSpc>
              <a:spcBef>
                <a:spcPct val="0"/>
              </a:spcBef>
              <a:spcAft>
                <a:spcPct val="0"/>
              </a:spcAft>
              <a:buFontTx/>
              <a:buChar char="•"/>
            </a:pPr>
            <a:r>
              <a:rPr lang="en-US" sz="2000" dirty="0">
                <a:latin typeface="Times New Roman" panose="02020603050405020304" pitchFamily="18" charset="0"/>
                <a:cs typeface="Times New Roman" panose="02020603050405020304" pitchFamily="18" charset="0"/>
              </a:rPr>
              <a:t>Develop a dynamic Excel dashboard to display key performance metrics interactively</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278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39264-75ED-519B-E10E-422A6805FC38}"/>
              </a:ext>
            </a:extLst>
          </p:cNvPr>
          <p:cNvSpPr txBox="1"/>
          <p:nvPr/>
        </p:nvSpPr>
        <p:spPr>
          <a:xfrm>
            <a:off x="860822" y="424845"/>
            <a:ext cx="279677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Dataset Overview</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ECE400-2CB8-21ED-905D-299A96DD2D85}"/>
              </a:ext>
            </a:extLst>
          </p:cNvPr>
          <p:cNvSpPr txBox="1"/>
          <p:nvPr/>
        </p:nvSpPr>
        <p:spPr>
          <a:xfrm>
            <a:off x="860822" y="934067"/>
            <a:ext cx="10140553" cy="18834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Superstores Sales dataset exists with 9994 rows, columns such as Row ID, Column ID, Order Date, Ship Date, Customer ID, Customer Name, Segment, Country, City, State, Postal code, Region, Product ID, Category, Sub category, Product Name, Sales, Quantity, Discount, Profit, Adjusted Sales.</a:t>
            </a:r>
            <a:endParaRPr lang="en-US" sz="2000" dirty="0"/>
          </a:p>
        </p:txBody>
      </p:sp>
      <p:sp>
        <p:nvSpPr>
          <p:cNvPr id="7" name="TextBox 6">
            <a:extLst>
              <a:ext uri="{FF2B5EF4-FFF2-40B4-BE49-F238E27FC236}">
                <a16:creationId xmlns:a16="http://schemas.microsoft.com/office/drawing/2014/main" id="{94F919B4-BEDB-6062-06C1-9139A8148AFC}"/>
              </a:ext>
            </a:extLst>
          </p:cNvPr>
          <p:cNvSpPr txBox="1"/>
          <p:nvPr/>
        </p:nvSpPr>
        <p:spPr>
          <a:xfrm>
            <a:off x="860822" y="2865088"/>
            <a:ext cx="3425428" cy="461665"/>
          </a:xfrm>
          <a:prstGeom prst="rect">
            <a:avLst/>
          </a:prstGeom>
          <a:noFill/>
        </p:spPr>
        <p:txBody>
          <a:bodyPr wrap="square">
            <a:spAutoFit/>
          </a:bodyPr>
          <a:lstStyle/>
          <a:p>
            <a:pPr>
              <a:lnSpc>
                <a:spcPct val="100000"/>
              </a:lnSpc>
            </a:pPr>
            <a:r>
              <a:rPr lang="en-US" sz="2400" b="1" dirty="0">
                <a:latin typeface="Times New Roman" panose="02020603050405020304" pitchFamily="18" charset="0"/>
                <a:cs typeface="Times New Roman" panose="02020603050405020304" pitchFamily="18" charset="0"/>
              </a:rPr>
              <a:t>Data Cleaning Process:</a:t>
            </a:r>
          </a:p>
        </p:txBody>
      </p:sp>
      <p:sp>
        <p:nvSpPr>
          <p:cNvPr id="8" name="TextBox 7">
            <a:extLst>
              <a:ext uri="{FF2B5EF4-FFF2-40B4-BE49-F238E27FC236}">
                <a16:creationId xmlns:a16="http://schemas.microsoft.com/office/drawing/2014/main" id="{11386FBB-E150-8D93-3B98-6D5DE67258BF}"/>
              </a:ext>
            </a:extLst>
          </p:cNvPr>
          <p:cNvSpPr txBox="1"/>
          <p:nvPr/>
        </p:nvSpPr>
        <p:spPr>
          <a:xfrm>
            <a:off x="860821" y="3374310"/>
            <a:ext cx="11183541" cy="28069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 used Power Query to clean the Raw Dataset.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Format the columns for better readability.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Date formatting for the "Order Date" and "Ship Date" columns to ensure proper sorting and filtering.</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Remove  duplicate rows and error in the dataset.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data validation to ensure that all data entries (like sales numbers and dates) are consistent and free of errors.</a:t>
            </a:r>
          </a:p>
        </p:txBody>
      </p:sp>
    </p:spTree>
    <p:extLst>
      <p:ext uri="{BB962C8B-B14F-4D97-AF65-F5344CB8AC3E}">
        <p14:creationId xmlns:p14="http://schemas.microsoft.com/office/powerpoint/2010/main" val="699269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9D215-A2BB-8302-D143-361B59800C87}"/>
              </a:ext>
            </a:extLst>
          </p:cNvPr>
          <p:cNvSpPr txBox="1"/>
          <p:nvPr/>
        </p:nvSpPr>
        <p:spPr>
          <a:xfrm>
            <a:off x="717948" y="415409"/>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Dataset Before and After Cleaning</a:t>
            </a:r>
            <a:endParaRPr lang="en-US" sz="2400" b="1" dirty="0"/>
          </a:p>
        </p:txBody>
      </p:sp>
      <p:pic>
        <p:nvPicPr>
          <p:cNvPr id="7" name="Picture 6">
            <a:extLst>
              <a:ext uri="{FF2B5EF4-FFF2-40B4-BE49-F238E27FC236}">
                <a16:creationId xmlns:a16="http://schemas.microsoft.com/office/drawing/2014/main" id="{AD54860E-537D-5EAA-EAB0-8FF661E6E93C}"/>
              </a:ext>
            </a:extLst>
          </p:cNvPr>
          <p:cNvPicPr>
            <a:picLocks noChangeAspect="1"/>
          </p:cNvPicPr>
          <p:nvPr/>
        </p:nvPicPr>
        <p:blipFill>
          <a:blip r:embed="rId2"/>
          <a:stretch>
            <a:fillRect/>
          </a:stretch>
        </p:blipFill>
        <p:spPr>
          <a:xfrm>
            <a:off x="6377466" y="1242707"/>
            <a:ext cx="5096586" cy="4372584"/>
          </a:xfrm>
          <a:prstGeom prst="rect">
            <a:avLst/>
          </a:prstGeom>
        </p:spPr>
      </p:pic>
      <p:pic>
        <p:nvPicPr>
          <p:cNvPr id="9" name="Picture 8">
            <a:extLst>
              <a:ext uri="{FF2B5EF4-FFF2-40B4-BE49-F238E27FC236}">
                <a16:creationId xmlns:a16="http://schemas.microsoft.com/office/drawing/2014/main" id="{17252C53-AB2B-E7F6-14A2-6F804E72DF9A}"/>
              </a:ext>
            </a:extLst>
          </p:cNvPr>
          <p:cNvPicPr>
            <a:picLocks noChangeAspect="1"/>
          </p:cNvPicPr>
          <p:nvPr/>
        </p:nvPicPr>
        <p:blipFill>
          <a:blip r:embed="rId3"/>
          <a:stretch>
            <a:fillRect/>
          </a:stretch>
        </p:blipFill>
        <p:spPr>
          <a:xfrm>
            <a:off x="717948" y="1242707"/>
            <a:ext cx="5077534" cy="4372585"/>
          </a:xfrm>
          <a:prstGeom prst="rect">
            <a:avLst/>
          </a:prstGeom>
        </p:spPr>
      </p:pic>
    </p:spTree>
    <p:extLst>
      <p:ext uri="{BB962C8B-B14F-4D97-AF65-F5344CB8AC3E}">
        <p14:creationId xmlns:p14="http://schemas.microsoft.com/office/powerpoint/2010/main" val="266622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A2F4DF-A67F-CC38-88FD-06A08A7A2723}"/>
              </a:ext>
            </a:extLst>
          </p:cNvPr>
          <p:cNvSpPr txBox="1"/>
          <p:nvPr/>
        </p:nvSpPr>
        <p:spPr>
          <a:xfrm>
            <a:off x="1960963" y="862787"/>
            <a:ext cx="8254604" cy="14219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 calculations of key metrics such as total sales, average order value, profit margins, and total discounts, followed by in-depth analysis to identify sales trends, product performance, and customer behavior insights.</a:t>
            </a:r>
          </a:p>
        </p:txBody>
      </p:sp>
      <p:sp>
        <p:nvSpPr>
          <p:cNvPr id="5" name="TextBox 4">
            <a:extLst>
              <a:ext uri="{FF2B5EF4-FFF2-40B4-BE49-F238E27FC236}">
                <a16:creationId xmlns:a16="http://schemas.microsoft.com/office/drawing/2014/main" id="{ED1FB9B9-2859-466A-FAC2-ABAE5FC643C3}"/>
              </a:ext>
            </a:extLst>
          </p:cNvPr>
          <p:cNvSpPr txBox="1"/>
          <p:nvPr/>
        </p:nvSpPr>
        <p:spPr>
          <a:xfrm>
            <a:off x="1960963" y="401122"/>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Key Metrics Calculation and Data Analysis </a:t>
            </a:r>
          </a:p>
        </p:txBody>
      </p:sp>
      <p:graphicFrame>
        <p:nvGraphicFramePr>
          <p:cNvPr id="7" name="Table 6">
            <a:extLst>
              <a:ext uri="{FF2B5EF4-FFF2-40B4-BE49-F238E27FC236}">
                <a16:creationId xmlns:a16="http://schemas.microsoft.com/office/drawing/2014/main" id="{3AD870B3-4F21-00A9-5546-631F92CF07DB}"/>
              </a:ext>
            </a:extLst>
          </p:cNvPr>
          <p:cNvGraphicFramePr>
            <a:graphicFrameLocks noGrp="1"/>
          </p:cNvGraphicFramePr>
          <p:nvPr>
            <p:extLst>
              <p:ext uri="{D42A27DB-BD31-4B8C-83A1-F6EECF244321}">
                <p14:modId xmlns:p14="http://schemas.microsoft.com/office/powerpoint/2010/main" val="487378886"/>
              </p:ext>
            </p:extLst>
          </p:nvPr>
        </p:nvGraphicFramePr>
        <p:xfrm>
          <a:off x="2737846" y="2746444"/>
          <a:ext cx="3225402" cy="775128"/>
        </p:xfrm>
        <a:graphic>
          <a:graphicData uri="http://schemas.openxmlformats.org/drawingml/2006/table">
            <a:tbl>
              <a:tblPr>
                <a:tableStyleId>{793D81CF-94F2-401A-BA57-92F5A7B2D0C5}</a:tableStyleId>
              </a:tblPr>
              <a:tblGrid>
                <a:gridCol w="3225402">
                  <a:extLst>
                    <a:ext uri="{9D8B030D-6E8A-4147-A177-3AD203B41FA5}">
                      <a16:colId xmlns:a16="http://schemas.microsoft.com/office/drawing/2014/main" val="4127014956"/>
                    </a:ext>
                  </a:extLst>
                </a:gridCol>
              </a:tblGrid>
              <a:tr h="387564">
                <a:tc>
                  <a:txBody>
                    <a:bodyPr/>
                    <a:lstStyle/>
                    <a:p>
                      <a:pPr algn="ctr" fontAlgn="ctr">
                        <a:buNone/>
                      </a:pPr>
                      <a:r>
                        <a:rPr lang="en-US" sz="2000" b="1" u="none" strike="noStrike" dirty="0">
                          <a:solidFill>
                            <a:srgbClr val="000000"/>
                          </a:solidFill>
                          <a:effectLst/>
                        </a:rPr>
                        <a:t>Total Revenue</a:t>
                      </a:r>
                      <a:endParaRPr lang="en-US" sz="2000" b="1" i="0" u="none" strike="noStrike" dirty="0">
                        <a:solidFill>
                          <a:srgbClr val="000000"/>
                        </a:solidFill>
                        <a:effectLst/>
                        <a:latin typeface="Times New Roman" panose="02020603050405020304" pitchFamily="18" charset="0"/>
                      </a:endParaRPr>
                    </a:p>
                  </a:txBody>
                  <a:tcPr marL="9525" marR="9525" marT="9525" marB="0" anchor="ctr">
                    <a:solidFill>
                      <a:srgbClr val="92D050"/>
                    </a:solidFill>
                  </a:tcPr>
                </a:tc>
                <a:extLst>
                  <a:ext uri="{0D108BD9-81ED-4DB2-BD59-A6C34878D82A}">
                    <a16:rowId xmlns:a16="http://schemas.microsoft.com/office/drawing/2014/main" val="999936038"/>
                  </a:ext>
                </a:extLst>
              </a:tr>
              <a:tr h="387564">
                <a:tc>
                  <a:txBody>
                    <a:bodyPr/>
                    <a:lstStyle/>
                    <a:p>
                      <a:pPr algn="ctr" fontAlgn="ctr">
                        <a:buNone/>
                      </a:pPr>
                      <a:r>
                        <a:rPr lang="en-US" sz="2000" b="0" u="none" strike="noStrike" dirty="0">
                          <a:solidFill>
                            <a:srgbClr val="000000"/>
                          </a:solidFill>
                          <a:effectLst/>
                        </a:rPr>
                        <a:t>3074838.579</a:t>
                      </a:r>
                      <a:endParaRPr lang="en-US" sz="2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311019065"/>
                  </a:ext>
                </a:extLst>
              </a:tr>
            </a:tbl>
          </a:graphicData>
        </a:graphic>
      </p:graphicFrame>
      <p:graphicFrame>
        <p:nvGraphicFramePr>
          <p:cNvPr id="8" name="Table 7">
            <a:extLst>
              <a:ext uri="{FF2B5EF4-FFF2-40B4-BE49-F238E27FC236}">
                <a16:creationId xmlns:a16="http://schemas.microsoft.com/office/drawing/2014/main" id="{AC6FFA31-5486-08E7-4164-079DE6C1672A}"/>
              </a:ext>
            </a:extLst>
          </p:cNvPr>
          <p:cNvGraphicFramePr>
            <a:graphicFrameLocks noGrp="1"/>
          </p:cNvGraphicFramePr>
          <p:nvPr>
            <p:extLst>
              <p:ext uri="{D42A27DB-BD31-4B8C-83A1-F6EECF244321}">
                <p14:modId xmlns:p14="http://schemas.microsoft.com/office/powerpoint/2010/main" val="991518330"/>
              </p:ext>
            </p:extLst>
          </p:nvPr>
        </p:nvGraphicFramePr>
        <p:xfrm>
          <a:off x="2737846" y="3983237"/>
          <a:ext cx="3225402" cy="775128"/>
        </p:xfrm>
        <a:graphic>
          <a:graphicData uri="http://schemas.openxmlformats.org/drawingml/2006/table">
            <a:tbl>
              <a:tblPr/>
              <a:tblGrid>
                <a:gridCol w="3225402">
                  <a:extLst>
                    <a:ext uri="{9D8B030D-6E8A-4147-A177-3AD203B41FA5}">
                      <a16:colId xmlns:a16="http://schemas.microsoft.com/office/drawing/2014/main" val="1906200222"/>
                    </a:ext>
                  </a:extLst>
                </a:gridCol>
              </a:tblGrid>
              <a:tr h="387564">
                <a:tc>
                  <a:txBody>
                    <a:bodyPr/>
                    <a:lstStyle/>
                    <a:p>
                      <a:pPr algn="ctr" fontAlgn="ctr">
                        <a:buNone/>
                      </a:pPr>
                      <a:r>
                        <a:rPr lang="en-US" sz="2000" b="1" i="0" u="none" strike="noStrike" dirty="0">
                          <a:solidFill>
                            <a:srgbClr val="000000"/>
                          </a:solidFill>
                          <a:effectLst/>
                          <a:latin typeface="Times New Roman" panose="02020603050405020304" pitchFamily="18" charset="0"/>
                        </a:rPr>
                        <a:t>Average Ordered value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520424550"/>
                  </a:ext>
                </a:extLst>
              </a:tr>
              <a:tr h="387564">
                <a:tc>
                  <a:txBody>
                    <a:bodyPr/>
                    <a:lstStyle/>
                    <a:p>
                      <a:pPr algn="ctr" fontAlgn="ctr">
                        <a:buNone/>
                      </a:pPr>
                      <a:r>
                        <a:rPr lang="en-US" sz="2000" b="0" i="0" u="none" strike="noStrike" dirty="0">
                          <a:solidFill>
                            <a:srgbClr val="000000"/>
                          </a:solidFill>
                          <a:effectLst/>
                          <a:latin typeface="Times New Roman" panose="02020603050405020304" pitchFamily="18" charset="0"/>
                        </a:rPr>
                        <a:t>3.767798467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5041253"/>
                  </a:ext>
                </a:extLst>
              </a:tr>
            </a:tbl>
          </a:graphicData>
        </a:graphic>
      </p:graphicFrame>
      <p:graphicFrame>
        <p:nvGraphicFramePr>
          <p:cNvPr id="9" name="Table 8">
            <a:extLst>
              <a:ext uri="{FF2B5EF4-FFF2-40B4-BE49-F238E27FC236}">
                <a16:creationId xmlns:a16="http://schemas.microsoft.com/office/drawing/2014/main" id="{A3A7CD4B-1564-D773-C1B2-59DB6A92B944}"/>
              </a:ext>
            </a:extLst>
          </p:cNvPr>
          <p:cNvGraphicFramePr>
            <a:graphicFrameLocks noGrp="1"/>
          </p:cNvGraphicFramePr>
          <p:nvPr>
            <p:extLst>
              <p:ext uri="{D42A27DB-BD31-4B8C-83A1-F6EECF244321}">
                <p14:modId xmlns:p14="http://schemas.microsoft.com/office/powerpoint/2010/main" val="4074929350"/>
              </p:ext>
            </p:extLst>
          </p:nvPr>
        </p:nvGraphicFramePr>
        <p:xfrm>
          <a:off x="6894118" y="2762219"/>
          <a:ext cx="3225402" cy="775128"/>
        </p:xfrm>
        <a:graphic>
          <a:graphicData uri="http://schemas.openxmlformats.org/drawingml/2006/table">
            <a:tbl>
              <a:tblPr/>
              <a:tblGrid>
                <a:gridCol w="3225402">
                  <a:extLst>
                    <a:ext uri="{9D8B030D-6E8A-4147-A177-3AD203B41FA5}">
                      <a16:colId xmlns:a16="http://schemas.microsoft.com/office/drawing/2014/main" val="1512909709"/>
                    </a:ext>
                  </a:extLst>
                </a:gridCol>
              </a:tblGrid>
              <a:tr h="387564">
                <a:tc>
                  <a:txBody>
                    <a:bodyPr/>
                    <a:lstStyle/>
                    <a:p>
                      <a:pPr algn="ctr" fontAlgn="ctr">
                        <a:buNone/>
                      </a:pPr>
                      <a:r>
                        <a:rPr lang="en-US" sz="2000" b="1" i="0" u="none" strike="noStrike" dirty="0">
                          <a:solidFill>
                            <a:srgbClr val="000000"/>
                          </a:solidFill>
                          <a:effectLst/>
                          <a:latin typeface="Times New Roman" panose="02020603050405020304" pitchFamily="18" charset="0"/>
                        </a:rPr>
                        <a:t>Total Discount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633173229"/>
                  </a:ext>
                </a:extLst>
              </a:tr>
              <a:tr h="387564">
                <a:tc>
                  <a:txBody>
                    <a:bodyPr/>
                    <a:lstStyle/>
                    <a:p>
                      <a:pPr algn="ctr" fontAlgn="ctr">
                        <a:buNone/>
                      </a:pPr>
                      <a:r>
                        <a:rPr lang="en-US" sz="2000" b="0" i="0" u="none" strike="noStrike" dirty="0">
                          <a:solidFill>
                            <a:srgbClr val="000000"/>
                          </a:solidFill>
                          <a:effectLst/>
                          <a:latin typeface="Times New Roman" panose="02020603050405020304" pitchFamily="18" charset="0"/>
                        </a:rPr>
                        <a:t>1689.87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683145"/>
                  </a:ext>
                </a:extLst>
              </a:tr>
            </a:tbl>
          </a:graphicData>
        </a:graphic>
      </p:graphicFrame>
      <p:graphicFrame>
        <p:nvGraphicFramePr>
          <p:cNvPr id="10" name="Table 9">
            <a:extLst>
              <a:ext uri="{FF2B5EF4-FFF2-40B4-BE49-F238E27FC236}">
                <a16:creationId xmlns:a16="http://schemas.microsoft.com/office/drawing/2014/main" id="{64200644-F87C-364C-45B1-310974BB3212}"/>
              </a:ext>
            </a:extLst>
          </p:cNvPr>
          <p:cNvGraphicFramePr>
            <a:graphicFrameLocks noGrp="1"/>
          </p:cNvGraphicFramePr>
          <p:nvPr>
            <p:extLst>
              <p:ext uri="{D42A27DB-BD31-4B8C-83A1-F6EECF244321}">
                <p14:modId xmlns:p14="http://schemas.microsoft.com/office/powerpoint/2010/main" val="752784479"/>
              </p:ext>
            </p:extLst>
          </p:nvPr>
        </p:nvGraphicFramePr>
        <p:xfrm>
          <a:off x="6894118" y="3983237"/>
          <a:ext cx="3225402" cy="775128"/>
        </p:xfrm>
        <a:graphic>
          <a:graphicData uri="http://schemas.openxmlformats.org/drawingml/2006/table">
            <a:tbl>
              <a:tblPr/>
              <a:tblGrid>
                <a:gridCol w="3225402">
                  <a:extLst>
                    <a:ext uri="{9D8B030D-6E8A-4147-A177-3AD203B41FA5}">
                      <a16:colId xmlns:a16="http://schemas.microsoft.com/office/drawing/2014/main" val="2550714669"/>
                    </a:ext>
                  </a:extLst>
                </a:gridCol>
              </a:tblGrid>
              <a:tr h="387564">
                <a:tc>
                  <a:txBody>
                    <a:bodyPr/>
                    <a:lstStyle/>
                    <a:p>
                      <a:pPr algn="ctr" fontAlgn="ctr">
                        <a:buNone/>
                      </a:pPr>
                      <a:r>
                        <a:rPr lang="en-US" sz="2000" b="1" i="0" u="none" strike="noStrike" dirty="0">
                          <a:solidFill>
                            <a:srgbClr val="000000"/>
                          </a:solidFill>
                          <a:effectLst/>
                          <a:latin typeface="Times New Roman" panose="02020603050405020304" pitchFamily="18" charset="0"/>
                        </a:rPr>
                        <a:t>Total Adjusted Sales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673623945"/>
                  </a:ext>
                </a:extLst>
              </a:tr>
              <a:tr h="387564">
                <a:tc>
                  <a:txBody>
                    <a:bodyPr/>
                    <a:lstStyle/>
                    <a:p>
                      <a:pPr algn="ctr" fontAlgn="ctr">
                        <a:buNone/>
                      </a:pPr>
                      <a:r>
                        <a:rPr lang="en-US" sz="2000" b="0" i="0" u="none" strike="noStrike" dirty="0">
                          <a:solidFill>
                            <a:srgbClr val="000000"/>
                          </a:solidFill>
                          <a:effectLst/>
                          <a:latin typeface="Times New Roman" panose="02020603050405020304" pitchFamily="18" charset="0"/>
                        </a:rPr>
                        <a:t>3050475.025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0476655"/>
                  </a:ext>
                </a:extLst>
              </a:tr>
            </a:tbl>
          </a:graphicData>
        </a:graphic>
      </p:graphicFrame>
    </p:spTree>
    <p:extLst>
      <p:ext uri="{BB962C8B-B14F-4D97-AF65-F5344CB8AC3E}">
        <p14:creationId xmlns:p14="http://schemas.microsoft.com/office/powerpoint/2010/main" val="3927119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7D19CF-8DFF-4B49-E64B-9D66B52F8427}"/>
              </a:ext>
            </a:extLst>
          </p:cNvPr>
          <p:cNvSpPr txBox="1"/>
          <p:nvPr/>
        </p:nvSpPr>
        <p:spPr>
          <a:xfrm>
            <a:off x="1118005" y="415408"/>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Pivot Tables and Pivot Charts </a:t>
            </a:r>
          </a:p>
        </p:txBody>
      </p:sp>
      <p:sp>
        <p:nvSpPr>
          <p:cNvPr id="7" name="TextBox 6">
            <a:extLst>
              <a:ext uri="{FF2B5EF4-FFF2-40B4-BE49-F238E27FC236}">
                <a16:creationId xmlns:a16="http://schemas.microsoft.com/office/drawing/2014/main" id="{E89315D8-63A6-6AAF-C2A5-7DDF3ACB5709}"/>
              </a:ext>
            </a:extLst>
          </p:cNvPr>
          <p:cNvSpPr txBox="1"/>
          <p:nvPr/>
        </p:nvSpPr>
        <p:spPr>
          <a:xfrm>
            <a:off x="1118005" y="1002769"/>
            <a:ext cx="8840390" cy="28069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PivotTables were used to summarize and analyze large sales datasets by key dimensions such as product type, sales channel, and time period, enabling quick calculation of totals, averages, and comparisons.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Pivot Charts, built on these PivotTables, provided dynamic visualizations that updated automatically with filters and slicers, making it easier to identify trends, patterns, and performance insights at a glance.</a:t>
            </a:r>
          </a:p>
        </p:txBody>
      </p:sp>
      <p:graphicFrame>
        <p:nvGraphicFramePr>
          <p:cNvPr id="18" name="Table 17">
            <a:extLst>
              <a:ext uri="{FF2B5EF4-FFF2-40B4-BE49-F238E27FC236}">
                <a16:creationId xmlns:a16="http://schemas.microsoft.com/office/drawing/2014/main" id="{EAC62C68-1C8D-5397-8BDE-0094E222B318}"/>
              </a:ext>
            </a:extLst>
          </p:cNvPr>
          <p:cNvGraphicFramePr>
            <a:graphicFrameLocks noGrp="1"/>
          </p:cNvGraphicFramePr>
          <p:nvPr>
            <p:extLst>
              <p:ext uri="{D42A27DB-BD31-4B8C-83A1-F6EECF244321}">
                <p14:modId xmlns:p14="http://schemas.microsoft.com/office/powerpoint/2010/main" val="3422848741"/>
              </p:ext>
            </p:extLst>
          </p:nvPr>
        </p:nvGraphicFramePr>
        <p:xfrm>
          <a:off x="1327157" y="3935452"/>
          <a:ext cx="3073400" cy="2217421"/>
        </p:xfrm>
        <a:graphic>
          <a:graphicData uri="http://schemas.openxmlformats.org/drawingml/2006/table">
            <a:tbl>
              <a:tblPr/>
              <a:tblGrid>
                <a:gridCol w="1444625">
                  <a:extLst>
                    <a:ext uri="{9D8B030D-6E8A-4147-A177-3AD203B41FA5}">
                      <a16:colId xmlns:a16="http://schemas.microsoft.com/office/drawing/2014/main" val="1703954794"/>
                    </a:ext>
                  </a:extLst>
                </a:gridCol>
                <a:gridCol w="1628775">
                  <a:extLst>
                    <a:ext uri="{9D8B030D-6E8A-4147-A177-3AD203B41FA5}">
                      <a16:colId xmlns:a16="http://schemas.microsoft.com/office/drawing/2014/main" val="259443498"/>
                    </a:ext>
                  </a:extLst>
                </a:gridCol>
              </a:tblGrid>
              <a:tr h="414814">
                <a:tc>
                  <a:txBody>
                    <a:bodyPr/>
                    <a:lstStyle/>
                    <a:p>
                      <a:pPr algn="l" fontAlgn="b">
                        <a:buNone/>
                      </a:pPr>
                      <a:r>
                        <a:rPr lang="en-US" sz="1800" b="1" i="0" u="none" strike="noStrike" dirty="0">
                          <a:solidFill>
                            <a:srgbClr val="000000"/>
                          </a:solidFill>
                          <a:effectLst/>
                          <a:latin typeface="Times New Roman" panose="02020603050405020304" pitchFamily="18" charset="0"/>
                        </a:rPr>
                        <a:t>Row Labels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tc>
                  <a:txBody>
                    <a:bodyPr/>
                    <a:lstStyle/>
                    <a:p>
                      <a:pPr algn="l" fontAlgn="b">
                        <a:buNone/>
                      </a:pPr>
                      <a:r>
                        <a:rPr lang="en-US" sz="1800" b="1" i="0" u="none" strike="noStrike" dirty="0">
                          <a:solidFill>
                            <a:srgbClr val="000000"/>
                          </a:solidFill>
                          <a:effectLst/>
                          <a:latin typeface="Times New Roman" panose="02020603050405020304" pitchFamily="18" charset="0"/>
                        </a:rPr>
                        <a:t>Sum of Adjusted Sales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extLst>
                  <a:ext uri="{0D108BD9-81ED-4DB2-BD59-A6C34878D82A}">
                    <a16:rowId xmlns:a16="http://schemas.microsoft.com/office/drawing/2014/main" val="2582452425"/>
                  </a:ext>
                </a:extLst>
              </a:tr>
              <a:tr h="414814">
                <a:tc>
                  <a:txBody>
                    <a:bodyPr/>
                    <a:lstStyle/>
                    <a:p>
                      <a:pPr algn="l" fontAlgn="b">
                        <a:buNone/>
                      </a:pPr>
                      <a:r>
                        <a:rPr lang="en-US" sz="1800" b="0" i="0" u="none" strike="noStrike">
                          <a:solidFill>
                            <a:srgbClr val="000000"/>
                          </a:solidFill>
                          <a:effectLst/>
                          <a:latin typeface="Times New Roman" panose="02020603050405020304" pitchFamily="18" charset="0"/>
                        </a:rPr>
                        <a:t>Furniture</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tc>
                  <a:txBody>
                    <a:bodyPr/>
                    <a:lstStyle/>
                    <a:p>
                      <a:pPr algn="r" fontAlgn="b">
                        <a:buNone/>
                      </a:pPr>
                      <a:r>
                        <a:rPr lang="en-US" sz="1800" b="0" i="0" u="none" strike="noStrike" dirty="0">
                          <a:solidFill>
                            <a:srgbClr val="000000"/>
                          </a:solidFill>
                          <a:effectLst/>
                          <a:latin typeface="Times New Roman" panose="02020603050405020304" pitchFamily="18" charset="0"/>
                        </a:rPr>
                        <a:t>1030720.621</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extLst>
                  <a:ext uri="{0D108BD9-81ED-4DB2-BD59-A6C34878D82A}">
                    <a16:rowId xmlns:a16="http://schemas.microsoft.com/office/drawing/2014/main" val="1059364773"/>
                  </a:ext>
                </a:extLst>
              </a:tr>
              <a:tr h="414814">
                <a:tc>
                  <a:txBody>
                    <a:bodyPr/>
                    <a:lstStyle/>
                    <a:p>
                      <a:pPr algn="l" fontAlgn="b">
                        <a:buNone/>
                      </a:pPr>
                      <a:r>
                        <a:rPr lang="en-US" sz="1800" b="0" i="0" u="none" strike="noStrike">
                          <a:solidFill>
                            <a:srgbClr val="000000"/>
                          </a:solidFill>
                          <a:effectLst/>
                          <a:latin typeface="Times New Roman" panose="02020603050405020304" pitchFamily="18" charset="0"/>
                        </a:rPr>
                        <a:t>Office Supplies</a:t>
                      </a:r>
                    </a:p>
                  </a:txBody>
                  <a:tcPr marL="9525" marR="9525" marT="9525" marB="0" anchor="b">
                    <a:lnL>
                      <a:noFill/>
                    </a:lnL>
                    <a:lnR>
                      <a:noFill/>
                    </a:lnR>
                    <a:lnT>
                      <a:noFill/>
                    </a:lnT>
                    <a:lnB>
                      <a:noFill/>
                    </a:lnB>
                    <a:noFill/>
                  </a:tcPr>
                </a:tc>
                <a:tc>
                  <a:txBody>
                    <a:bodyPr/>
                    <a:lstStyle/>
                    <a:p>
                      <a:pPr algn="r" fontAlgn="b">
                        <a:buNone/>
                      </a:pPr>
                      <a:r>
                        <a:rPr lang="en-US" sz="1800" b="0" i="0" u="none" strike="noStrike" dirty="0">
                          <a:solidFill>
                            <a:srgbClr val="000000"/>
                          </a:solidFill>
                          <a:effectLst/>
                          <a:latin typeface="Times New Roman" panose="02020603050405020304" pitchFamily="18" charset="0"/>
                        </a:rPr>
                        <a:t>814113.9265</a:t>
                      </a:r>
                    </a:p>
                  </a:txBody>
                  <a:tcPr marL="9525" marR="9525" marT="9525" marB="0" anchor="b">
                    <a:lnL>
                      <a:noFill/>
                    </a:lnL>
                    <a:lnR>
                      <a:noFill/>
                    </a:lnR>
                    <a:lnT>
                      <a:noFill/>
                    </a:lnT>
                    <a:lnB>
                      <a:noFill/>
                    </a:lnB>
                    <a:noFill/>
                  </a:tcPr>
                </a:tc>
                <a:extLst>
                  <a:ext uri="{0D108BD9-81ED-4DB2-BD59-A6C34878D82A}">
                    <a16:rowId xmlns:a16="http://schemas.microsoft.com/office/drawing/2014/main" val="1448151323"/>
                  </a:ext>
                </a:extLst>
              </a:tr>
              <a:tr h="414814">
                <a:tc>
                  <a:txBody>
                    <a:bodyPr/>
                    <a:lstStyle/>
                    <a:p>
                      <a:pPr algn="l" fontAlgn="b">
                        <a:buNone/>
                      </a:pPr>
                      <a:r>
                        <a:rPr lang="en-US" sz="1800" b="0" i="0" u="none" strike="noStrike">
                          <a:solidFill>
                            <a:srgbClr val="000000"/>
                          </a:solidFill>
                          <a:effectLst/>
                          <a:latin typeface="Times New Roman" panose="02020603050405020304" pitchFamily="18" charset="0"/>
                        </a:rPr>
                        <a:t>Technology</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tc>
                  <a:txBody>
                    <a:bodyPr/>
                    <a:lstStyle/>
                    <a:p>
                      <a:pPr algn="r" fontAlgn="b">
                        <a:buNone/>
                      </a:pPr>
                      <a:r>
                        <a:rPr lang="en-US" sz="1800" b="0" i="0" u="none" strike="noStrike" dirty="0">
                          <a:solidFill>
                            <a:srgbClr val="000000"/>
                          </a:solidFill>
                          <a:effectLst/>
                          <a:latin typeface="Times New Roman" panose="02020603050405020304" pitchFamily="18" charset="0"/>
                        </a:rPr>
                        <a:t>1205640.477</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extLst>
                  <a:ext uri="{0D108BD9-81ED-4DB2-BD59-A6C34878D82A}">
                    <a16:rowId xmlns:a16="http://schemas.microsoft.com/office/drawing/2014/main" val="1251465541"/>
                  </a:ext>
                </a:extLst>
              </a:tr>
              <a:tr h="414814">
                <a:tc>
                  <a:txBody>
                    <a:bodyPr/>
                    <a:lstStyle/>
                    <a:p>
                      <a:pPr algn="l" fontAlgn="b">
                        <a:buNone/>
                      </a:pPr>
                      <a:r>
                        <a:rPr lang="en-US" sz="1800" b="1" i="0" u="none" strike="noStrike">
                          <a:solidFill>
                            <a:srgbClr val="000000"/>
                          </a:solidFill>
                          <a:effectLst/>
                          <a:latin typeface="Times New Roman" panose="02020603050405020304" pitchFamily="18" charset="0"/>
                        </a:rPr>
                        <a:t>Grand Total</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tc>
                  <a:txBody>
                    <a:bodyPr/>
                    <a:lstStyle/>
                    <a:p>
                      <a:pPr algn="r" fontAlgn="b">
                        <a:buNone/>
                      </a:pPr>
                      <a:r>
                        <a:rPr lang="en-US" sz="1800" b="1" i="0" u="none" strike="noStrike" dirty="0">
                          <a:solidFill>
                            <a:srgbClr val="000000"/>
                          </a:solidFill>
                          <a:effectLst/>
                          <a:latin typeface="Times New Roman" panose="02020603050405020304" pitchFamily="18" charset="0"/>
                        </a:rPr>
                        <a:t>3050475.025</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extLst>
                  <a:ext uri="{0D108BD9-81ED-4DB2-BD59-A6C34878D82A}">
                    <a16:rowId xmlns:a16="http://schemas.microsoft.com/office/drawing/2014/main" val="2718347880"/>
                  </a:ext>
                </a:extLst>
              </a:tr>
            </a:tbl>
          </a:graphicData>
        </a:graphic>
      </p:graphicFrame>
      <p:graphicFrame>
        <p:nvGraphicFramePr>
          <p:cNvPr id="19" name="Table 18">
            <a:extLst>
              <a:ext uri="{FF2B5EF4-FFF2-40B4-BE49-F238E27FC236}">
                <a16:creationId xmlns:a16="http://schemas.microsoft.com/office/drawing/2014/main" id="{B3C2D1DE-F6F9-B149-81D8-4B07B0B23AA0}"/>
              </a:ext>
            </a:extLst>
          </p:cNvPr>
          <p:cNvGraphicFramePr>
            <a:graphicFrameLocks noGrp="1"/>
          </p:cNvGraphicFramePr>
          <p:nvPr>
            <p:extLst>
              <p:ext uri="{D42A27DB-BD31-4B8C-83A1-F6EECF244321}">
                <p14:modId xmlns:p14="http://schemas.microsoft.com/office/powerpoint/2010/main" val="878260671"/>
              </p:ext>
            </p:extLst>
          </p:nvPr>
        </p:nvGraphicFramePr>
        <p:xfrm>
          <a:off x="4581930" y="3926371"/>
          <a:ext cx="3073400" cy="2226501"/>
        </p:xfrm>
        <a:graphic>
          <a:graphicData uri="http://schemas.openxmlformats.org/drawingml/2006/table">
            <a:tbl>
              <a:tblPr/>
              <a:tblGrid>
                <a:gridCol w="1375964">
                  <a:extLst>
                    <a:ext uri="{9D8B030D-6E8A-4147-A177-3AD203B41FA5}">
                      <a16:colId xmlns:a16="http://schemas.microsoft.com/office/drawing/2014/main" val="3019087786"/>
                    </a:ext>
                  </a:extLst>
                </a:gridCol>
                <a:gridCol w="1697436">
                  <a:extLst>
                    <a:ext uri="{9D8B030D-6E8A-4147-A177-3AD203B41FA5}">
                      <a16:colId xmlns:a16="http://schemas.microsoft.com/office/drawing/2014/main" val="1703344585"/>
                    </a:ext>
                  </a:extLst>
                </a:gridCol>
              </a:tblGrid>
              <a:tr h="613594">
                <a:tc>
                  <a:txBody>
                    <a:bodyPr/>
                    <a:lstStyle/>
                    <a:p>
                      <a:pPr algn="l" fontAlgn="b">
                        <a:buNone/>
                      </a:pPr>
                      <a:r>
                        <a:rPr lang="en-US" sz="1800" b="1" i="0" u="none" strike="noStrike" dirty="0">
                          <a:solidFill>
                            <a:srgbClr val="000000"/>
                          </a:solidFill>
                          <a:effectLst/>
                          <a:latin typeface="Times New Roman" panose="02020603050405020304" pitchFamily="18" charset="0"/>
                        </a:rPr>
                        <a:t>Row Labels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tc>
                  <a:txBody>
                    <a:bodyPr/>
                    <a:lstStyle/>
                    <a:p>
                      <a:pPr algn="l" fontAlgn="b">
                        <a:buNone/>
                      </a:pPr>
                      <a:r>
                        <a:rPr lang="en-US" sz="1800" b="1" i="0" u="none" strike="noStrike" dirty="0">
                          <a:solidFill>
                            <a:srgbClr val="000000"/>
                          </a:solidFill>
                          <a:effectLst/>
                          <a:latin typeface="Times New Roman" panose="02020603050405020304" pitchFamily="18" charset="0"/>
                        </a:rPr>
                        <a:t>Sum of </a:t>
                      </a:r>
                    </a:p>
                    <a:p>
                      <a:pPr algn="l" fontAlgn="b">
                        <a:buNone/>
                      </a:pPr>
                      <a:r>
                        <a:rPr lang="en-US" sz="1800" b="1" i="0" u="none" strike="noStrike" dirty="0">
                          <a:solidFill>
                            <a:srgbClr val="000000"/>
                          </a:solidFill>
                          <a:effectLst/>
                          <a:latin typeface="Times New Roman" panose="02020603050405020304" pitchFamily="18" charset="0"/>
                        </a:rPr>
                        <a:t>Adjusted Sales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extLst>
                  <a:ext uri="{0D108BD9-81ED-4DB2-BD59-A6C34878D82A}">
                    <a16:rowId xmlns:a16="http://schemas.microsoft.com/office/drawing/2014/main" val="250304883"/>
                  </a:ext>
                </a:extLst>
              </a:tr>
              <a:tr h="312033">
                <a:tc>
                  <a:txBody>
                    <a:bodyPr/>
                    <a:lstStyle/>
                    <a:p>
                      <a:pPr algn="l" fontAlgn="b">
                        <a:buNone/>
                      </a:pPr>
                      <a:r>
                        <a:rPr lang="en-US" sz="1800" b="0" i="0" u="none" strike="noStrike" dirty="0">
                          <a:solidFill>
                            <a:srgbClr val="000000"/>
                          </a:solidFill>
                          <a:effectLst/>
                          <a:latin typeface="Times New Roman" panose="02020603050405020304" pitchFamily="18" charset="0"/>
                        </a:rPr>
                        <a:t>Consumer</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tc>
                  <a:txBody>
                    <a:bodyPr/>
                    <a:lstStyle/>
                    <a:p>
                      <a:pPr algn="r" fontAlgn="b">
                        <a:buNone/>
                      </a:pPr>
                      <a:r>
                        <a:rPr lang="en-US" sz="1800" b="0" i="0" u="none" strike="noStrike">
                          <a:solidFill>
                            <a:srgbClr val="000000"/>
                          </a:solidFill>
                          <a:effectLst/>
                          <a:latin typeface="Times New Roman" panose="02020603050405020304" pitchFamily="18" charset="0"/>
                        </a:rPr>
                        <a:t>1347475.135</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extLst>
                  <a:ext uri="{0D108BD9-81ED-4DB2-BD59-A6C34878D82A}">
                    <a16:rowId xmlns:a16="http://schemas.microsoft.com/office/drawing/2014/main" val="4080305127"/>
                  </a:ext>
                </a:extLst>
              </a:tr>
              <a:tr h="333228">
                <a:tc>
                  <a:txBody>
                    <a:bodyPr/>
                    <a:lstStyle/>
                    <a:p>
                      <a:pPr algn="l" fontAlgn="b">
                        <a:buNone/>
                      </a:pPr>
                      <a:r>
                        <a:rPr lang="en-US" sz="1800" b="0" i="0" u="none" strike="noStrike">
                          <a:solidFill>
                            <a:srgbClr val="000000"/>
                          </a:solidFill>
                          <a:effectLst/>
                          <a:latin typeface="Times New Roman" panose="02020603050405020304" pitchFamily="18" charset="0"/>
                        </a:rPr>
                        <a:t>Corporate</a:t>
                      </a:r>
                    </a:p>
                  </a:txBody>
                  <a:tcPr marL="9525" marR="9525" marT="9525" marB="0" anchor="b">
                    <a:lnL>
                      <a:noFill/>
                    </a:lnL>
                    <a:lnR>
                      <a:noFill/>
                    </a:lnR>
                    <a:lnT>
                      <a:noFill/>
                    </a:lnT>
                    <a:lnB>
                      <a:noFill/>
                    </a:lnB>
                    <a:noFill/>
                  </a:tcPr>
                </a:tc>
                <a:tc>
                  <a:txBody>
                    <a:bodyPr/>
                    <a:lstStyle/>
                    <a:p>
                      <a:pPr algn="r" fontAlgn="b">
                        <a:buNone/>
                      </a:pPr>
                      <a:r>
                        <a:rPr lang="en-US" sz="1800" b="0" i="0" u="none" strike="noStrike">
                          <a:solidFill>
                            <a:srgbClr val="000000"/>
                          </a:solidFill>
                          <a:effectLst/>
                          <a:latin typeface="Times New Roman" panose="02020603050405020304" pitchFamily="18" charset="0"/>
                        </a:rPr>
                        <a:t>986986.4201</a:t>
                      </a:r>
                    </a:p>
                  </a:txBody>
                  <a:tcPr marL="9525" marR="9525" marT="9525" marB="0" anchor="b">
                    <a:lnL>
                      <a:noFill/>
                    </a:lnL>
                    <a:lnR>
                      <a:noFill/>
                    </a:lnR>
                    <a:lnT>
                      <a:noFill/>
                    </a:lnT>
                    <a:lnB>
                      <a:noFill/>
                    </a:lnB>
                    <a:noFill/>
                  </a:tcPr>
                </a:tc>
                <a:extLst>
                  <a:ext uri="{0D108BD9-81ED-4DB2-BD59-A6C34878D82A}">
                    <a16:rowId xmlns:a16="http://schemas.microsoft.com/office/drawing/2014/main" val="4293793540"/>
                  </a:ext>
                </a:extLst>
              </a:tr>
              <a:tr h="613594">
                <a:tc>
                  <a:txBody>
                    <a:bodyPr/>
                    <a:lstStyle/>
                    <a:p>
                      <a:pPr algn="l" fontAlgn="b">
                        <a:buNone/>
                      </a:pPr>
                      <a:r>
                        <a:rPr lang="en-US" sz="1800" b="0" i="0" u="none" strike="noStrike">
                          <a:solidFill>
                            <a:srgbClr val="000000"/>
                          </a:solidFill>
                          <a:effectLst/>
                          <a:latin typeface="Times New Roman" panose="02020603050405020304" pitchFamily="18" charset="0"/>
                        </a:rPr>
                        <a:t>Home Office</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tc>
                  <a:txBody>
                    <a:bodyPr/>
                    <a:lstStyle/>
                    <a:p>
                      <a:pPr algn="r" fontAlgn="b">
                        <a:buNone/>
                      </a:pPr>
                      <a:r>
                        <a:rPr lang="en-US" sz="1800" b="0" i="0" u="none" strike="noStrike">
                          <a:solidFill>
                            <a:srgbClr val="000000"/>
                          </a:solidFill>
                          <a:effectLst/>
                          <a:latin typeface="Times New Roman" panose="02020603050405020304" pitchFamily="18" charset="0"/>
                        </a:rPr>
                        <a:t>716013.4706</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extLst>
                  <a:ext uri="{0D108BD9-81ED-4DB2-BD59-A6C34878D82A}">
                    <a16:rowId xmlns:a16="http://schemas.microsoft.com/office/drawing/2014/main" val="3432905614"/>
                  </a:ext>
                </a:extLst>
              </a:tr>
              <a:tr h="354052">
                <a:tc>
                  <a:txBody>
                    <a:bodyPr/>
                    <a:lstStyle/>
                    <a:p>
                      <a:pPr algn="l" fontAlgn="b">
                        <a:buNone/>
                      </a:pPr>
                      <a:r>
                        <a:rPr lang="en-US" sz="1800" b="1" i="0" u="none" strike="noStrike" dirty="0">
                          <a:solidFill>
                            <a:srgbClr val="000000"/>
                          </a:solidFill>
                          <a:effectLst/>
                          <a:latin typeface="Times New Roman" panose="02020603050405020304" pitchFamily="18" charset="0"/>
                        </a:rPr>
                        <a:t>Grand Total</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tc>
                  <a:txBody>
                    <a:bodyPr/>
                    <a:lstStyle/>
                    <a:p>
                      <a:pPr algn="r" fontAlgn="b">
                        <a:buNone/>
                      </a:pPr>
                      <a:r>
                        <a:rPr lang="en-US" sz="1800" b="1" i="0" u="none" strike="noStrike" dirty="0">
                          <a:solidFill>
                            <a:srgbClr val="000000"/>
                          </a:solidFill>
                          <a:effectLst/>
                          <a:latin typeface="Times New Roman" panose="02020603050405020304" pitchFamily="18" charset="0"/>
                        </a:rPr>
                        <a:t>3050475.025</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extLst>
                  <a:ext uri="{0D108BD9-81ED-4DB2-BD59-A6C34878D82A}">
                    <a16:rowId xmlns:a16="http://schemas.microsoft.com/office/drawing/2014/main" val="1646502502"/>
                  </a:ext>
                </a:extLst>
              </a:tr>
            </a:tbl>
          </a:graphicData>
        </a:graphic>
      </p:graphicFrame>
      <p:graphicFrame>
        <p:nvGraphicFramePr>
          <p:cNvPr id="20" name="Table 19">
            <a:extLst>
              <a:ext uri="{FF2B5EF4-FFF2-40B4-BE49-F238E27FC236}">
                <a16:creationId xmlns:a16="http://schemas.microsoft.com/office/drawing/2014/main" id="{C8190DBC-39EC-B2F0-9F7D-4DB51001AAD9}"/>
              </a:ext>
            </a:extLst>
          </p:cNvPr>
          <p:cNvGraphicFramePr>
            <a:graphicFrameLocks noGrp="1"/>
          </p:cNvGraphicFramePr>
          <p:nvPr>
            <p:extLst>
              <p:ext uri="{D42A27DB-BD31-4B8C-83A1-F6EECF244321}">
                <p14:modId xmlns:p14="http://schemas.microsoft.com/office/powerpoint/2010/main" val="3993137750"/>
              </p:ext>
            </p:extLst>
          </p:nvPr>
        </p:nvGraphicFramePr>
        <p:xfrm>
          <a:off x="7836703" y="3703552"/>
          <a:ext cx="3073400" cy="2449320"/>
        </p:xfrm>
        <a:graphic>
          <a:graphicData uri="http://schemas.openxmlformats.org/drawingml/2006/table">
            <a:tbl>
              <a:tblPr/>
              <a:tblGrid>
                <a:gridCol w="1264441">
                  <a:extLst>
                    <a:ext uri="{9D8B030D-6E8A-4147-A177-3AD203B41FA5}">
                      <a16:colId xmlns:a16="http://schemas.microsoft.com/office/drawing/2014/main" val="623009834"/>
                    </a:ext>
                  </a:extLst>
                </a:gridCol>
                <a:gridCol w="1808959">
                  <a:extLst>
                    <a:ext uri="{9D8B030D-6E8A-4147-A177-3AD203B41FA5}">
                      <a16:colId xmlns:a16="http://schemas.microsoft.com/office/drawing/2014/main" val="1231938585"/>
                    </a:ext>
                  </a:extLst>
                </a:gridCol>
              </a:tblGrid>
              <a:tr h="382650">
                <a:tc>
                  <a:txBody>
                    <a:bodyPr/>
                    <a:lstStyle/>
                    <a:p>
                      <a:pPr algn="l" fontAlgn="b">
                        <a:buNone/>
                      </a:pPr>
                      <a:r>
                        <a:rPr lang="en-US" sz="1800" b="1" i="0" u="none" strike="noStrike" dirty="0">
                          <a:solidFill>
                            <a:srgbClr val="000000"/>
                          </a:solidFill>
                          <a:effectLst/>
                          <a:latin typeface="Times New Roman" panose="02020603050405020304" pitchFamily="18" charset="0"/>
                        </a:rPr>
                        <a:t>Row Labels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tc>
                  <a:txBody>
                    <a:bodyPr/>
                    <a:lstStyle/>
                    <a:p>
                      <a:pPr algn="l" fontAlgn="b">
                        <a:buNone/>
                      </a:pPr>
                      <a:r>
                        <a:rPr lang="en-US" sz="1800" b="1" i="0" u="none" strike="noStrike" dirty="0">
                          <a:solidFill>
                            <a:srgbClr val="000000"/>
                          </a:solidFill>
                          <a:effectLst/>
                          <a:latin typeface="Times New Roman" panose="02020603050405020304" pitchFamily="18" charset="0"/>
                        </a:rPr>
                        <a:t>Sum of </a:t>
                      </a:r>
                    </a:p>
                    <a:p>
                      <a:pPr algn="l" fontAlgn="b">
                        <a:buNone/>
                      </a:pPr>
                      <a:r>
                        <a:rPr lang="en-US" sz="1800" b="1" i="0" u="none" strike="noStrike" dirty="0">
                          <a:solidFill>
                            <a:srgbClr val="000000"/>
                          </a:solidFill>
                          <a:effectLst/>
                          <a:latin typeface="Times New Roman" panose="02020603050405020304" pitchFamily="18" charset="0"/>
                        </a:rPr>
                        <a:t>Adjusted Sales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solidFill>
                      <a:srgbClr val="E9F5CF"/>
                    </a:solidFill>
                  </a:tcPr>
                </a:tc>
                <a:extLst>
                  <a:ext uri="{0D108BD9-81ED-4DB2-BD59-A6C34878D82A}">
                    <a16:rowId xmlns:a16="http://schemas.microsoft.com/office/drawing/2014/main" val="1244195632"/>
                  </a:ext>
                </a:extLst>
              </a:tr>
              <a:tr h="194590">
                <a:tc>
                  <a:txBody>
                    <a:bodyPr/>
                    <a:lstStyle/>
                    <a:p>
                      <a:pPr algn="l" fontAlgn="b">
                        <a:buNone/>
                      </a:pPr>
                      <a:r>
                        <a:rPr lang="en-US" sz="1800" b="0" i="0" u="none" strike="noStrike">
                          <a:solidFill>
                            <a:srgbClr val="000000"/>
                          </a:solidFill>
                          <a:effectLst/>
                          <a:latin typeface="Times New Roman" panose="02020603050405020304" pitchFamily="18" charset="0"/>
                        </a:rPr>
                        <a:t>First Class</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tc>
                  <a:txBody>
                    <a:bodyPr/>
                    <a:lstStyle/>
                    <a:p>
                      <a:pPr algn="r" fontAlgn="b">
                        <a:buNone/>
                      </a:pPr>
                      <a:r>
                        <a:rPr lang="en-US" sz="1800" b="0" i="0" u="none" strike="noStrike">
                          <a:solidFill>
                            <a:srgbClr val="000000"/>
                          </a:solidFill>
                          <a:effectLst/>
                          <a:latin typeface="Times New Roman" panose="02020603050405020304" pitchFamily="18" charset="0"/>
                        </a:rPr>
                        <a:t>533591.8572</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noFill/>
                  </a:tcPr>
                </a:tc>
                <a:extLst>
                  <a:ext uri="{0D108BD9-81ED-4DB2-BD59-A6C34878D82A}">
                    <a16:rowId xmlns:a16="http://schemas.microsoft.com/office/drawing/2014/main" val="954885199"/>
                  </a:ext>
                </a:extLst>
              </a:tr>
              <a:tr h="194590">
                <a:tc>
                  <a:txBody>
                    <a:bodyPr/>
                    <a:lstStyle/>
                    <a:p>
                      <a:pPr algn="l" fontAlgn="b">
                        <a:buNone/>
                      </a:pPr>
                      <a:r>
                        <a:rPr lang="en-US" sz="1800" b="0" i="0" u="none" strike="noStrike">
                          <a:solidFill>
                            <a:srgbClr val="000000"/>
                          </a:solidFill>
                          <a:effectLst/>
                          <a:latin typeface="Times New Roman" panose="02020603050405020304" pitchFamily="18" charset="0"/>
                        </a:rPr>
                        <a:t>Same Day</a:t>
                      </a:r>
                    </a:p>
                  </a:txBody>
                  <a:tcPr marL="9525" marR="9525" marT="9525" marB="0" anchor="b">
                    <a:lnL>
                      <a:noFill/>
                    </a:lnL>
                    <a:lnR>
                      <a:noFill/>
                    </a:lnR>
                    <a:lnT>
                      <a:noFill/>
                    </a:lnT>
                    <a:lnB>
                      <a:noFill/>
                    </a:lnB>
                    <a:noFill/>
                  </a:tcPr>
                </a:tc>
                <a:tc>
                  <a:txBody>
                    <a:bodyPr/>
                    <a:lstStyle/>
                    <a:p>
                      <a:pPr algn="r" fontAlgn="b">
                        <a:buNone/>
                      </a:pPr>
                      <a:r>
                        <a:rPr lang="en-US" sz="1800" b="0" i="0" u="none" strike="noStrike" dirty="0">
                          <a:solidFill>
                            <a:srgbClr val="000000"/>
                          </a:solidFill>
                          <a:effectLst/>
                          <a:latin typeface="Times New Roman" panose="02020603050405020304" pitchFamily="18" charset="0"/>
                        </a:rPr>
                        <a:t>260856.4919</a:t>
                      </a:r>
                    </a:p>
                  </a:txBody>
                  <a:tcPr marL="9525" marR="9525" marT="9525" marB="0" anchor="b">
                    <a:lnL>
                      <a:noFill/>
                    </a:lnL>
                    <a:lnR>
                      <a:noFill/>
                    </a:lnR>
                    <a:lnT>
                      <a:noFill/>
                    </a:lnT>
                    <a:lnB>
                      <a:noFill/>
                    </a:lnB>
                    <a:noFill/>
                  </a:tcPr>
                </a:tc>
                <a:extLst>
                  <a:ext uri="{0D108BD9-81ED-4DB2-BD59-A6C34878D82A}">
                    <a16:rowId xmlns:a16="http://schemas.microsoft.com/office/drawing/2014/main" val="1783141759"/>
                  </a:ext>
                </a:extLst>
              </a:tr>
              <a:tr h="382650">
                <a:tc>
                  <a:txBody>
                    <a:bodyPr/>
                    <a:lstStyle/>
                    <a:p>
                      <a:pPr algn="l" fontAlgn="b">
                        <a:buNone/>
                      </a:pPr>
                      <a:r>
                        <a:rPr lang="en-US" sz="1800" b="0" i="0" u="none" strike="noStrike">
                          <a:solidFill>
                            <a:srgbClr val="000000"/>
                          </a:solidFill>
                          <a:effectLst/>
                          <a:latin typeface="Times New Roman" panose="02020603050405020304" pitchFamily="18" charset="0"/>
                        </a:rPr>
                        <a:t>Second Class</a:t>
                      </a:r>
                    </a:p>
                  </a:txBody>
                  <a:tcPr marL="9525" marR="9525" marT="9525" marB="0" anchor="b">
                    <a:lnL>
                      <a:noFill/>
                    </a:lnL>
                    <a:lnR>
                      <a:noFill/>
                    </a:lnR>
                    <a:lnT>
                      <a:noFill/>
                    </a:lnT>
                    <a:lnB>
                      <a:noFill/>
                    </a:lnB>
                    <a:noFill/>
                  </a:tcPr>
                </a:tc>
                <a:tc>
                  <a:txBody>
                    <a:bodyPr/>
                    <a:lstStyle/>
                    <a:p>
                      <a:pPr algn="r" fontAlgn="b">
                        <a:buNone/>
                      </a:pPr>
                      <a:r>
                        <a:rPr lang="en-US" sz="1800" b="0" i="0" u="none" strike="noStrike" dirty="0">
                          <a:solidFill>
                            <a:srgbClr val="000000"/>
                          </a:solidFill>
                          <a:effectLst/>
                          <a:latin typeface="Times New Roman" panose="02020603050405020304" pitchFamily="18" charset="0"/>
                        </a:rPr>
                        <a:t>649188.3049</a:t>
                      </a:r>
                    </a:p>
                  </a:txBody>
                  <a:tcPr marL="9525" marR="9525" marT="9525" marB="0" anchor="b">
                    <a:lnL>
                      <a:noFill/>
                    </a:lnL>
                    <a:lnR>
                      <a:noFill/>
                    </a:lnR>
                    <a:lnT>
                      <a:noFill/>
                    </a:lnT>
                    <a:lnB>
                      <a:noFill/>
                    </a:lnB>
                    <a:noFill/>
                  </a:tcPr>
                </a:tc>
                <a:extLst>
                  <a:ext uri="{0D108BD9-81ED-4DB2-BD59-A6C34878D82A}">
                    <a16:rowId xmlns:a16="http://schemas.microsoft.com/office/drawing/2014/main" val="3693720948"/>
                  </a:ext>
                </a:extLst>
              </a:tr>
              <a:tr h="382650">
                <a:tc>
                  <a:txBody>
                    <a:bodyPr/>
                    <a:lstStyle/>
                    <a:p>
                      <a:pPr algn="l" fontAlgn="b">
                        <a:buNone/>
                      </a:pPr>
                      <a:r>
                        <a:rPr lang="en-US" sz="1800" b="0" i="0" u="none" strike="noStrike">
                          <a:solidFill>
                            <a:srgbClr val="000000"/>
                          </a:solidFill>
                          <a:effectLst/>
                          <a:latin typeface="Times New Roman" panose="02020603050405020304" pitchFamily="18" charset="0"/>
                        </a:rPr>
                        <a:t>Standard Class</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tc>
                  <a:txBody>
                    <a:bodyPr/>
                    <a:lstStyle/>
                    <a:p>
                      <a:pPr algn="r" fontAlgn="b">
                        <a:buNone/>
                      </a:pPr>
                      <a:r>
                        <a:rPr lang="en-US" sz="1800" b="0" i="0" u="none" strike="noStrike">
                          <a:solidFill>
                            <a:srgbClr val="000000"/>
                          </a:solidFill>
                          <a:effectLst/>
                          <a:latin typeface="Times New Roman" panose="02020603050405020304" pitchFamily="18" charset="0"/>
                        </a:rPr>
                        <a:t>1606838.371</a:t>
                      </a:r>
                    </a:p>
                  </a:txBody>
                  <a:tcPr marL="9525" marR="9525" marT="9525" marB="0" anchor="b">
                    <a:lnL>
                      <a:noFill/>
                    </a:lnL>
                    <a:lnR>
                      <a:noFill/>
                    </a:lnR>
                    <a:lnT>
                      <a:noFill/>
                    </a:lnT>
                    <a:lnB w="6350" cap="flat" cmpd="sng" algn="ctr">
                      <a:solidFill>
                        <a:srgbClr val="BFE373"/>
                      </a:solidFill>
                      <a:prstDash val="solid"/>
                      <a:round/>
                      <a:headEnd type="none" w="med" len="med"/>
                      <a:tailEnd type="none" w="med" len="med"/>
                    </a:lnB>
                    <a:noFill/>
                  </a:tcPr>
                </a:tc>
                <a:extLst>
                  <a:ext uri="{0D108BD9-81ED-4DB2-BD59-A6C34878D82A}">
                    <a16:rowId xmlns:a16="http://schemas.microsoft.com/office/drawing/2014/main" val="431874262"/>
                  </a:ext>
                </a:extLst>
              </a:tr>
              <a:tr h="382650">
                <a:tc>
                  <a:txBody>
                    <a:bodyPr/>
                    <a:lstStyle/>
                    <a:p>
                      <a:pPr algn="l" fontAlgn="b">
                        <a:buNone/>
                      </a:pPr>
                      <a:r>
                        <a:rPr lang="en-US" sz="1800" b="1" i="0" u="none" strike="noStrike" dirty="0">
                          <a:solidFill>
                            <a:srgbClr val="000000"/>
                          </a:solidFill>
                          <a:effectLst/>
                          <a:latin typeface="Times New Roman" panose="02020603050405020304" pitchFamily="18" charset="0"/>
                        </a:rPr>
                        <a:t>Grand Total</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tc>
                  <a:txBody>
                    <a:bodyPr/>
                    <a:lstStyle/>
                    <a:p>
                      <a:pPr algn="r" fontAlgn="b">
                        <a:buNone/>
                      </a:pPr>
                      <a:r>
                        <a:rPr lang="en-US" sz="1800" b="1" i="0" u="none" strike="noStrike" dirty="0">
                          <a:solidFill>
                            <a:srgbClr val="000000"/>
                          </a:solidFill>
                          <a:effectLst/>
                          <a:latin typeface="Times New Roman" panose="02020603050405020304" pitchFamily="18" charset="0"/>
                        </a:rPr>
                        <a:t>3050475.025</a:t>
                      </a:r>
                    </a:p>
                  </a:txBody>
                  <a:tcPr marL="9525" marR="9525" marT="9525" marB="0" anchor="b">
                    <a:lnL>
                      <a:noFill/>
                    </a:lnL>
                    <a:lnR>
                      <a:noFill/>
                    </a:lnR>
                    <a:lnT w="6350" cap="flat" cmpd="sng" algn="ctr">
                      <a:solidFill>
                        <a:srgbClr val="BFE373"/>
                      </a:solidFill>
                      <a:prstDash val="solid"/>
                      <a:round/>
                      <a:headEnd type="none" w="med" len="med"/>
                      <a:tailEnd type="none" w="med" len="med"/>
                    </a:lnT>
                    <a:lnB>
                      <a:noFill/>
                    </a:lnB>
                    <a:solidFill>
                      <a:srgbClr val="E9F5CF"/>
                    </a:solidFill>
                  </a:tcPr>
                </a:tc>
                <a:extLst>
                  <a:ext uri="{0D108BD9-81ED-4DB2-BD59-A6C34878D82A}">
                    <a16:rowId xmlns:a16="http://schemas.microsoft.com/office/drawing/2014/main" val="584534724"/>
                  </a:ext>
                </a:extLst>
              </a:tr>
            </a:tbl>
          </a:graphicData>
        </a:graphic>
      </p:graphicFrame>
    </p:spTree>
    <p:extLst>
      <p:ext uri="{BB962C8B-B14F-4D97-AF65-F5344CB8AC3E}">
        <p14:creationId xmlns:p14="http://schemas.microsoft.com/office/powerpoint/2010/main" val="3738376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7B89A7D-D431-6343-358F-E8211BBF44AE}"/>
              </a:ext>
            </a:extLst>
          </p:cNvPr>
          <p:cNvGraphicFramePr>
            <a:graphicFrameLocks/>
          </p:cNvGraphicFramePr>
          <p:nvPr>
            <p:extLst>
              <p:ext uri="{D42A27DB-BD31-4B8C-83A1-F6EECF244321}">
                <p14:modId xmlns:p14="http://schemas.microsoft.com/office/powerpoint/2010/main" val="1992487694"/>
              </p:ext>
            </p:extLst>
          </p:nvPr>
        </p:nvGraphicFramePr>
        <p:xfrm>
          <a:off x="242888" y="576263"/>
          <a:ext cx="4276726" cy="218598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744FA8E5-DCD2-75EA-752E-7FEC04FE9F1C}"/>
              </a:ext>
            </a:extLst>
          </p:cNvPr>
          <p:cNvGraphicFramePr>
            <a:graphicFrameLocks/>
          </p:cNvGraphicFramePr>
          <p:nvPr>
            <p:extLst>
              <p:ext uri="{D42A27DB-BD31-4B8C-83A1-F6EECF244321}">
                <p14:modId xmlns:p14="http://schemas.microsoft.com/office/powerpoint/2010/main" val="1389588171"/>
              </p:ext>
            </p:extLst>
          </p:nvPr>
        </p:nvGraphicFramePr>
        <p:xfrm>
          <a:off x="3971925" y="2340769"/>
          <a:ext cx="4248150" cy="21764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3D82FABE-3EAC-826D-A04E-A6BACA7E0C0C}"/>
              </a:ext>
            </a:extLst>
          </p:cNvPr>
          <p:cNvGraphicFramePr>
            <a:graphicFrameLocks/>
          </p:cNvGraphicFramePr>
          <p:nvPr>
            <p:extLst>
              <p:ext uri="{D42A27DB-BD31-4B8C-83A1-F6EECF244321}">
                <p14:modId xmlns:p14="http://schemas.microsoft.com/office/powerpoint/2010/main" val="2701388300"/>
              </p:ext>
            </p:extLst>
          </p:nvPr>
        </p:nvGraphicFramePr>
        <p:xfrm>
          <a:off x="7691437" y="4105274"/>
          <a:ext cx="4257675" cy="2176463"/>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C8EA55DA-D6C4-1C90-5026-87217A639FF2}"/>
              </a:ext>
            </a:extLst>
          </p:cNvPr>
          <p:cNvSpPr txBox="1"/>
          <p:nvPr/>
        </p:nvSpPr>
        <p:spPr>
          <a:xfrm flipH="1">
            <a:off x="1718311" y="176153"/>
            <a:ext cx="1325880"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Ship Mode</a:t>
            </a:r>
          </a:p>
        </p:txBody>
      </p:sp>
      <p:sp>
        <p:nvSpPr>
          <p:cNvPr id="6" name="TextBox 5">
            <a:extLst>
              <a:ext uri="{FF2B5EF4-FFF2-40B4-BE49-F238E27FC236}">
                <a16:creationId xmlns:a16="http://schemas.microsoft.com/office/drawing/2014/main" id="{48F6D645-F339-99D3-1AC0-70BBA9E3D339}"/>
              </a:ext>
            </a:extLst>
          </p:cNvPr>
          <p:cNvSpPr txBox="1"/>
          <p:nvPr/>
        </p:nvSpPr>
        <p:spPr>
          <a:xfrm>
            <a:off x="5545931" y="1940659"/>
            <a:ext cx="1100138"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Segment</a:t>
            </a:r>
          </a:p>
        </p:txBody>
      </p:sp>
      <p:sp>
        <p:nvSpPr>
          <p:cNvPr id="7" name="TextBox 6">
            <a:extLst>
              <a:ext uri="{FF2B5EF4-FFF2-40B4-BE49-F238E27FC236}">
                <a16:creationId xmlns:a16="http://schemas.microsoft.com/office/drawing/2014/main" id="{EDA3F0C6-303F-9ED7-21EF-0CA6F0FA7BE1}"/>
              </a:ext>
            </a:extLst>
          </p:cNvPr>
          <p:cNvSpPr txBox="1"/>
          <p:nvPr/>
        </p:nvSpPr>
        <p:spPr>
          <a:xfrm>
            <a:off x="9163049" y="3705164"/>
            <a:ext cx="1314450"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Category</a:t>
            </a:r>
          </a:p>
        </p:txBody>
      </p:sp>
    </p:spTree>
    <p:extLst>
      <p:ext uri="{BB962C8B-B14F-4D97-AF65-F5344CB8AC3E}">
        <p14:creationId xmlns:p14="http://schemas.microsoft.com/office/powerpoint/2010/main" val="4188336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3FE319-09C8-75B5-7C2A-CE14CAFE2A79}"/>
              </a:ext>
            </a:extLst>
          </p:cNvPr>
          <p:cNvSpPr txBox="1"/>
          <p:nvPr/>
        </p:nvSpPr>
        <p:spPr>
          <a:xfrm>
            <a:off x="432197" y="172522"/>
            <a:ext cx="318254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Dashboard Overview</a:t>
            </a:r>
          </a:p>
        </p:txBody>
      </p:sp>
      <p:pic>
        <p:nvPicPr>
          <p:cNvPr id="4" name="Picture 3">
            <a:extLst>
              <a:ext uri="{FF2B5EF4-FFF2-40B4-BE49-F238E27FC236}">
                <a16:creationId xmlns:a16="http://schemas.microsoft.com/office/drawing/2014/main" id="{7BA59A62-1D17-9083-EB82-47585493A67A}"/>
              </a:ext>
            </a:extLst>
          </p:cNvPr>
          <p:cNvPicPr>
            <a:picLocks noChangeAspect="1"/>
          </p:cNvPicPr>
          <p:nvPr/>
        </p:nvPicPr>
        <p:blipFill>
          <a:blip r:embed="rId2"/>
          <a:stretch>
            <a:fillRect/>
          </a:stretch>
        </p:blipFill>
        <p:spPr>
          <a:xfrm>
            <a:off x="1310640" y="646582"/>
            <a:ext cx="9570720" cy="5752019"/>
          </a:xfrm>
          <a:prstGeom prst="rect">
            <a:avLst/>
          </a:prstGeom>
        </p:spPr>
      </p:pic>
    </p:spTree>
    <p:extLst>
      <p:ext uri="{BB962C8B-B14F-4D97-AF65-F5344CB8AC3E}">
        <p14:creationId xmlns:p14="http://schemas.microsoft.com/office/powerpoint/2010/main" val="3877166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999069-1893-BB49-FFE5-0EB09031CA8F}"/>
              </a:ext>
            </a:extLst>
          </p:cNvPr>
          <p:cNvSpPr txBox="1"/>
          <p:nvPr/>
        </p:nvSpPr>
        <p:spPr>
          <a:xfrm>
            <a:off x="589360" y="315396"/>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What-If Analysis &amp; Goal Seek </a:t>
            </a:r>
            <a:endParaRPr lang="en-US" sz="2400" b="1" dirty="0"/>
          </a:p>
        </p:txBody>
      </p:sp>
      <p:sp>
        <p:nvSpPr>
          <p:cNvPr id="5" name="TextBox 4">
            <a:extLst>
              <a:ext uri="{FF2B5EF4-FFF2-40B4-BE49-F238E27FC236}">
                <a16:creationId xmlns:a16="http://schemas.microsoft.com/office/drawing/2014/main" id="{D15AB83E-2042-509F-2F71-BF8CE3D74F31}"/>
              </a:ext>
            </a:extLst>
          </p:cNvPr>
          <p:cNvSpPr txBox="1"/>
          <p:nvPr/>
        </p:nvSpPr>
        <p:spPr>
          <a:xfrm>
            <a:off x="589360" y="777061"/>
            <a:ext cx="10544174" cy="14219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Goal Seek to determine the sales target needed to achieve a specific revenue or profit goal. For example, set a goal for Adjusted Sales or Profit and use Goal Seek to find out how many units of a product need to be sold to reach that target. </a:t>
            </a:r>
          </a:p>
        </p:txBody>
      </p:sp>
      <p:pic>
        <p:nvPicPr>
          <p:cNvPr id="7" name="Picture 6">
            <a:extLst>
              <a:ext uri="{FF2B5EF4-FFF2-40B4-BE49-F238E27FC236}">
                <a16:creationId xmlns:a16="http://schemas.microsoft.com/office/drawing/2014/main" id="{ADE6A975-7914-7E2C-82EE-75710FA262D4}"/>
              </a:ext>
            </a:extLst>
          </p:cNvPr>
          <p:cNvPicPr>
            <a:picLocks noChangeAspect="1"/>
          </p:cNvPicPr>
          <p:nvPr/>
        </p:nvPicPr>
        <p:blipFill>
          <a:blip r:embed="rId2"/>
          <a:stretch>
            <a:fillRect/>
          </a:stretch>
        </p:blipFill>
        <p:spPr>
          <a:xfrm>
            <a:off x="902112" y="2318975"/>
            <a:ext cx="5468113" cy="1733792"/>
          </a:xfrm>
          <a:prstGeom prst="rect">
            <a:avLst/>
          </a:prstGeom>
        </p:spPr>
      </p:pic>
      <p:pic>
        <p:nvPicPr>
          <p:cNvPr id="9" name="Picture 8">
            <a:extLst>
              <a:ext uri="{FF2B5EF4-FFF2-40B4-BE49-F238E27FC236}">
                <a16:creationId xmlns:a16="http://schemas.microsoft.com/office/drawing/2014/main" id="{D11A3929-D823-AFFE-1E9A-E2A4055D9AF7}"/>
              </a:ext>
            </a:extLst>
          </p:cNvPr>
          <p:cNvPicPr>
            <a:picLocks noChangeAspect="1"/>
          </p:cNvPicPr>
          <p:nvPr/>
        </p:nvPicPr>
        <p:blipFill>
          <a:blip r:embed="rId3"/>
          <a:stretch>
            <a:fillRect/>
          </a:stretch>
        </p:blipFill>
        <p:spPr>
          <a:xfrm>
            <a:off x="902111" y="4356673"/>
            <a:ext cx="5468113" cy="1724266"/>
          </a:xfrm>
          <a:prstGeom prst="rect">
            <a:avLst/>
          </a:prstGeom>
        </p:spPr>
      </p:pic>
      <p:graphicFrame>
        <p:nvGraphicFramePr>
          <p:cNvPr id="10" name="Table 9">
            <a:extLst>
              <a:ext uri="{FF2B5EF4-FFF2-40B4-BE49-F238E27FC236}">
                <a16:creationId xmlns:a16="http://schemas.microsoft.com/office/drawing/2014/main" id="{A38C3ECB-804B-7103-627E-DDE98CE4EA30}"/>
              </a:ext>
            </a:extLst>
          </p:cNvPr>
          <p:cNvGraphicFramePr>
            <a:graphicFrameLocks noGrp="1"/>
          </p:cNvGraphicFramePr>
          <p:nvPr>
            <p:extLst>
              <p:ext uri="{D42A27DB-BD31-4B8C-83A1-F6EECF244321}">
                <p14:modId xmlns:p14="http://schemas.microsoft.com/office/powerpoint/2010/main" val="2251342786"/>
              </p:ext>
            </p:extLst>
          </p:nvPr>
        </p:nvGraphicFramePr>
        <p:xfrm>
          <a:off x="7335838" y="3110280"/>
          <a:ext cx="2622550" cy="2108526"/>
        </p:xfrm>
        <a:graphic>
          <a:graphicData uri="http://schemas.openxmlformats.org/drawingml/2006/table">
            <a:tbl>
              <a:tblPr/>
              <a:tblGrid>
                <a:gridCol w="1596335">
                  <a:extLst>
                    <a:ext uri="{9D8B030D-6E8A-4147-A177-3AD203B41FA5}">
                      <a16:colId xmlns:a16="http://schemas.microsoft.com/office/drawing/2014/main" val="1671224301"/>
                    </a:ext>
                  </a:extLst>
                </a:gridCol>
                <a:gridCol w="1026215">
                  <a:extLst>
                    <a:ext uri="{9D8B030D-6E8A-4147-A177-3AD203B41FA5}">
                      <a16:colId xmlns:a16="http://schemas.microsoft.com/office/drawing/2014/main" val="1070276087"/>
                    </a:ext>
                  </a:extLst>
                </a:gridCol>
              </a:tblGrid>
              <a:tr h="702842">
                <a:tc gridSpan="2">
                  <a:txBody>
                    <a:bodyPr/>
                    <a:lstStyle/>
                    <a:p>
                      <a:pPr algn="ctr" fontAlgn="b">
                        <a:buNone/>
                      </a:pPr>
                      <a:r>
                        <a:rPr lang="en-US" sz="3200" b="0" i="0" u="none" strike="noStrike" dirty="0">
                          <a:solidFill>
                            <a:srgbClr val="000000"/>
                          </a:solidFill>
                          <a:effectLst/>
                          <a:latin typeface="Times New Roman" panose="02020603050405020304" pitchFamily="18" charset="0"/>
                        </a:rPr>
                        <a:t>Goal Seek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extLst>
                  <a:ext uri="{0D108BD9-81ED-4DB2-BD59-A6C34878D82A}">
                    <a16:rowId xmlns:a16="http://schemas.microsoft.com/office/drawing/2014/main" val="2573937020"/>
                  </a:ext>
                </a:extLst>
              </a:tr>
              <a:tr h="702842">
                <a:tc>
                  <a:txBody>
                    <a:bodyPr/>
                    <a:lstStyle/>
                    <a:p>
                      <a:pPr algn="ctr" fontAlgn="b">
                        <a:buNone/>
                      </a:pPr>
                      <a:r>
                        <a:rPr lang="en-US" sz="2000" b="0" i="0" u="none" strike="noStrike" dirty="0">
                          <a:solidFill>
                            <a:srgbClr val="000000"/>
                          </a:solidFill>
                          <a:effectLst/>
                          <a:latin typeface="Times New Roman" panose="02020603050405020304" pitchFamily="18" charset="0"/>
                        </a:rPr>
                        <a:t>Quantity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r>
                        <a:rPr lang="en-US" sz="2000" b="0" i="0" u="none" strike="noStrike" dirty="0">
                          <a:solidFill>
                            <a:srgbClr val="000000"/>
                          </a:solidFill>
                          <a:effectLst/>
                          <a:latin typeface="Times New Roman" panose="02020603050405020304" pitchFamily="18" charset="0"/>
                        </a:rPr>
                        <a:t>190.8688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482977072"/>
                  </a:ext>
                </a:extLst>
              </a:tr>
              <a:tr h="702842">
                <a:tc>
                  <a:txBody>
                    <a:bodyPr/>
                    <a:lstStyle/>
                    <a:p>
                      <a:pPr algn="ctr" fontAlgn="b">
                        <a:buNone/>
                      </a:pPr>
                      <a:r>
                        <a:rPr lang="en-US" sz="2000" b="0" i="0" u="none" strike="noStrike" dirty="0">
                          <a:solidFill>
                            <a:srgbClr val="000000"/>
                          </a:solidFill>
                          <a:effectLst/>
                          <a:latin typeface="Times New Roman" panose="02020603050405020304" pitchFamily="18" charset="0"/>
                        </a:rPr>
                        <a:t>Adjusted Sales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r>
                        <a:rPr lang="en-US" sz="2000" b="0" i="0" u="none" strike="noStrike" dirty="0">
                          <a:solidFill>
                            <a:srgbClr val="000000"/>
                          </a:solidFill>
                          <a:effectLst/>
                          <a:latin typeface="Times New Roman" panose="02020603050405020304" pitchFamily="18" charset="0"/>
                        </a:rPr>
                        <a:t>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19579808"/>
                  </a:ext>
                </a:extLst>
              </a:tr>
            </a:tbl>
          </a:graphicData>
        </a:graphic>
      </p:graphicFrame>
    </p:spTree>
    <p:extLst>
      <p:ext uri="{BB962C8B-B14F-4D97-AF65-F5344CB8AC3E}">
        <p14:creationId xmlns:p14="http://schemas.microsoft.com/office/powerpoint/2010/main" val="348931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913D6-BEDF-C4E5-C648-10EAAEC1D307}"/>
              </a:ext>
            </a:extLst>
          </p:cNvPr>
          <p:cNvSpPr txBox="1"/>
          <p:nvPr/>
        </p:nvSpPr>
        <p:spPr>
          <a:xfrm>
            <a:off x="482798" y="368766"/>
            <a:ext cx="609361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Insights and Recommendations </a:t>
            </a:r>
            <a:endParaRPr lang="en-US" sz="2400" b="1" dirty="0"/>
          </a:p>
        </p:txBody>
      </p:sp>
      <p:sp>
        <p:nvSpPr>
          <p:cNvPr id="5" name="TextBox 4">
            <a:extLst>
              <a:ext uri="{FF2B5EF4-FFF2-40B4-BE49-F238E27FC236}">
                <a16:creationId xmlns:a16="http://schemas.microsoft.com/office/drawing/2014/main" id="{A95D2EA7-884D-CD7B-C21F-7A80ADEAFB30}"/>
              </a:ext>
            </a:extLst>
          </p:cNvPr>
          <p:cNvSpPr txBox="1"/>
          <p:nvPr/>
        </p:nvSpPr>
        <p:spPr>
          <a:xfrm>
            <a:off x="482798" y="830431"/>
            <a:ext cx="11709202" cy="5576976"/>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Sales Channel Performance</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Standard Class channel contributes the highest sales volume and revenue.</a:t>
            </a:r>
          </a:p>
          <a:p>
            <a:pPr>
              <a:lnSpc>
                <a:spcPct val="150000"/>
              </a:lnSpc>
              <a:buNone/>
            </a:pPr>
            <a:r>
              <a:rPr lang="en-US" sz="2000" b="1" dirty="0">
                <a:latin typeface="Times New Roman" panose="02020603050405020304" pitchFamily="18" charset="0"/>
                <a:cs typeface="Times New Roman" panose="02020603050405020304" pitchFamily="18" charset="0"/>
              </a:rPr>
              <a:t>Category Insights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Technology is the Best-performing category show strong Adjusted Sales and high quantity sold.</a:t>
            </a:r>
          </a:p>
          <a:p>
            <a:pPr>
              <a:lnSpc>
                <a:spcPct val="150000"/>
              </a:lnSpc>
              <a:buNone/>
            </a:pPr>
            <a:r>
              <a:rPr lang="en-US" sz="2000" b="1" dirty="0">
                <a:latin typeface="Times New Roman" panose="02020603050405020304" pitchFamily="18" charset="0"/>
                <a:cs typeface="Times New Roman" panose="02020603050405020304" pitchFamily="18" charset="0"/>
              </a:rPr>
              <a:t>Discount Impact Analysis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Discounts reduce Net Sales significantly; difference of 24,363 observed between Net Sales and Adjusted Sales.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Excessive discounts may hurt profitability despite higher sales volume.</a:t>
            </a:r>
          </a:p>
          <a:p>
            <a:pPr>
              <a:lnSpc>
                <a:spcPct val="150000"/>
              </a:lnSpc>
              <a:buNone/>
            </a:pPr>
            <a:r>
              <a:rPr lang="en-US" sz="2000" b="1" dirty="0">
                <a:latin typeface="Times New Roman" panose="02020603050405020304" pitchFamily="18" charset="0"/>
                <a:cs typeface="Times New Roman" panose="02020603050405020304" pitchFamily="18" charset="0"/>
              </a:rPr>
              <a:t>Recommendations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 on high-performing sales channels (e.g., Standard Class) to boost overall revenue.</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Optimize discount strategies by targeting specific products instead of broad reductions.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Promote underperforming category products via marketing or bundling offers.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Analyze returns data (if available) to identify product quality or customer experience issues.</a:t>
            </a:r>
          </a:p>
        </p:txBody>
      </p:sp>
    </p:spTree>
    <p:extLst>
      <p:ext uri="{BB962C8B-B14F-4D97-AF65-F5344CB8AC3E}">
        <p14:creationId xmlns:p14="http://schemas.microsoft.com/office/powerpoint/2010/main" val="3171269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8DD696-515B-84F6-7F22-079DCE69BE56}"/>
              </a:ext>
            </a:extLst>
          </p:cNvPr>
          <p:cNvSpPr txBox="1"/>
          <p:nvPr/>
        </p:nvSpPr>
        <p:spPr>
          <a:xfrm>
            <a:off x="746522" y="929767"/>
            <a:ext cx="185380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F89A6899-F6D6-B852-C5F9-40F046C61F68}"/>
              </a:ext>
            </a:extLst>
          </p:cNvPr>
          <p:cNvSpPr>
            <a:spLocks noChangeArrowheads="1"/>
          </p:cNvSpPr>
          <p:nvPr/>
        </p:nvSpPr>
        <p:spPr bwMode="auto">
          <a:xfrm>
            <a:off x="746522" y="1761248"/>
            <a:ext cx="10702192"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Class drives the highest sales; Category shows mixed performance.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Discounts impact net sales (difference: 24,363) — need targeted discount strategies.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high-performing channels and improve underperforming products to boost revenue.</a:t>
            </a:r>
          </a:p>
        </p:txBody>
      </p:sp>
      <p:sp>
        <p:nvSpPr>
          <p:cNvPr id="6" name="TextBox 5">
            <a:extLst>
              <a:ext uri="{FF2B5EF4-FFF2-40B4-BE49-F238E27FC236}">
                <a16:creationId xmlns:a16="http://schemas.microsoft.com/office/drawing/2014/main" id="{4DAB0384-3F01-CF04-9E9D-F07BB0B43DC8}"/>
              </a:ext>
            </a:extLst>
          </p:cNvPr>
          <p:cNvSpPr txBox="1"/>
          <p:nvPr/>
        </p:nvSpPr>
        <p:spPr>
          <a:xfrm>
            <a:off x="746521" y="3553056"/>
            <a:ext cx="1596629"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Next Steps</a:t>
            </a:r>
          </a:p>
        </p:txBody>
      </p:sp>
      <p:sp>
        <p:nvSpPr>
          <p:cNvPr id="7" name="Rectangle 2">
            <a:extLst>
              <a:ext uri="{FF2B5EF4-FFF2-40B4-BE49-F238E27FC236}">
                <a16:creationId xmlns:a16="http://schemas.microsoft.com/office/drawing/2014/main" id="{6F0E6B80-8566-138B-F692-069D998D1203}"/>
              </a:ext>
            </a:extLst>
          </p:cNvPr>
          <p:cNvSpPr>
            <a:spLocks noChangeArrowheads="1"/>
          </p:cNvSpPr>
          <p:nvPr/>
        </p:nvSpPr>
        <p:spPr bwMode="auto">
          <a:xfrm rot="10800000" flipV="1">
            <a:off x="746521" y="4384537"/>
            <a:ext cx="6040042" cy="96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customer segments for personalized strategies.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returns to reduce losses and improve quality.</a:t>
            </a:r>
          </a:p>
        </p:txBody>
      </p:sp>
    </p:spTree>
    <p:extLst>
      <p:ext uri="{BB962C8B-B14F-4D97-AF65-F5344CB8AC3E}">
        <p14:creationId xmlns:p14="http://schemas.microsoft.com/office/powerpoint/2010/main" val="3828754646"/>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{18ED1B4C-5390-4B42-9CEA-357C8EF0A138}TFb63a7776-4452-49b2-8055-21efce632b726e3c8758_win32-7d1db0309ca7</Template>
  <TotalTime>211</TotalTime>
  <Words>673</Words>
  <Application>Microsoft Office PowerPoint</Application>
  <PresentationFormat>Widescreen</PresentationFormat>
  <Paragraphs>101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Bookman Old Style</vt:lpstr>
      <vt:lpstr>Calibri</vt:lpstr>
      <vt:lpstr>Franklin Gothic Book</vt:lpstr>
      <vt:lpstr>Times New Roman</vt:lpstr>
      <vt:lpstr>Custom</vt:lpstr>
      <vt:lpstr>Sales Dataset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Raagulpradan D</dc:creator>
  <cp:lastModifiedBy>Raagulpradan D</cp:lastModifiedBy>
  <cp:revision>9</cp:revision>
  <dcterms:created xsi:type="dcterms:W3CDTF">2025-08-05T15:58:25Z</dcterms:created>
  <dcterms:modified xsi:type="dcterms:W3CDTF">2025-10-28T04:09:30Z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